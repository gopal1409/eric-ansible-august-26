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23234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377440" cy="23774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AUTOMATION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End-to-End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automation for provisioning, configuration management, and application deployment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Inventory to Playbooks to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Ansible is, agentless architecture, and how it compares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9456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ad-hoc commands, playbooks, variables &amp; modules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templates, conditionals, loops &amp; handlers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Practices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Galaxy, CI/CD integration &amp; best practices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Ansible?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is an open-source automation engine for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management, application deployment, and orchestration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describes system state as human-readable YAML and applies it consistently across any number of machines.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47872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39242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Agentless:  </a:t>
            </a:r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over standard SSH / WinRM — nothing to install or patch on target nodes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507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&amp; Procedural:  </a:t>
            </a:r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desired state, or run tasks in a defined order — Ansible supports both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64608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7091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 </a:t>
            </a:r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a playbook only changes what has drifted from the desired state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22976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3675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YAML-based:  </a:t>
            </a:r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are plain text, human-readable, and version-control friendly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 → MANAGED NODES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246888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E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2468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Control Node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29077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· Inventory · Modules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3246120"/>
            <a:ext cx="0" cy="320040"/>
          </a:xfrm>
          <a:prstGeom prst="line">
            <a:avLst/>
          </a:prstGeom>
          <a:noFill/>
          <a:ln w="12700">
            <a:solidFill>
              <a:srgbClr val="A9A9C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903720" y="35661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A2A45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566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98280" y="3246120"/>
            <a:ext cx="0" cy="914400"/>
          </a:xfrm>
          <a:prstGeom prst="line">
            <a:avLst/>
          </a:prstGeom>
          <a:noFill/>
          <a:ln w="12700">
            <a:solidFill>
              <a:srgbClr val="A9A9C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903720" y="416052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A2A45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280" y="3246120"/>
            <a:ext cx="0" cy="1508760"/>
          </a:xfrm>
          <a:prstGeom prst="line">
            <a:avLst/>
          </a:prstGeom>
          <a:noFill/>
          <a:ln w="12700">
            <a:solidFill>
              <a:srgbClr val="A9A9C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903720" y="475488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A2A45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98280" y="3246120"/>
            <a:ext cx="0" cy="2103120"/>
          </a:xfrm>
          <a:prstGeom prst="line">
            <a:avLst/>
          </a:prstGeom>
          <a:noFill/>
          <a:ln w="12700">
            <a:solidFill>
              <a:srgbClr val="A9A9C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903720" y="534924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A2A45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5349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(AWS/Azure)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03720" y="5989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SSH (Linux) · WinRM (Windows) — no agent required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Agentless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EE00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Ansible engine, parses playbooks, pushes modules over SSH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33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210312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97680" y="278892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managed hosts, grouped and tagged with variables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29400" y="210312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12280" y="278892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idempotent programs pushed to hosts, then removed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21031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2A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Nodes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326880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servers — only need Python and SSH access, no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232342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26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daemons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persistently on target hosts — reduces attack surface and overhead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9976" y="43434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232342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4526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08576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 initiates every connection; nodes never call home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1312" y="434340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232342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9912" y="4526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SSH only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39912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Linux targets just need Python 3 installed — already there by default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vs. The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83280" y="1828800"/>
            <a:ext cx="2697480" cy="621792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8288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269748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6080760" y="18288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0" y="1828800"/>
            <a:ext cx="269748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1828800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 / Chef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2834640" cy="62179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5059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2450592"/>
            <a:ext cx="2697480" cy="621792"/>
          </a:xfrm>
          <a:prstGeom prst="rect">
            <a:avLst/>
          </a:prstGeom>
          <a:solidFill>
            <a:srgbClr val="FDE8E8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45059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mgmt &amp; deployment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2450592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45059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provisioning (IaC)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2450592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45059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072384"/>
            <a:ext cx="2834640" cy="62179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7238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required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3072384"/>
            <a:ext cx="2697480" cy="621792"/>
          </a:xfrm>
          <a:prstGeom prst="rect">
            <a:avLst/>
          </a:prstGeom>
          <a:solidFill>
            <a:srgbClr val="FDE8E8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7238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(agentless)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3072384"/>
            <a:ext cx="2697480" cy="621792"/>
          </a:xfrm>
          <a:prstGeom prst="rect">
            <a:avLst/>
          </a:prstGeom>
          <a:solidFill>
            <a:srgbClr val="F0F0F3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07238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(API-driven)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78240" y="3072384"/>
            <a:ext cx="2697480" cy="621792"/>
          </a:xfrm>
          <a:prstGeom prst="rect">
            <a:avLst/>
          </a:prstGeom>
          <a:solidFill>
            <a:srgbClr val="F0F0F3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307238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(agent + master)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694176"/>
            <a:ext cx="2834640" cy="62179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69417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694176"/>
            <a:ext cx="2697480" cy="621792"/>
          </a:xfrm>
          <a:prstGeom prst="rect">
            <a:avLst/>
          </a:prstGeom>
          <a:solidFill>
            <a:srgbClr val="FDE8E8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6941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3694176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6941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78240" y="3694176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694176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DSL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315968"/>
            <a:ext cx="2834640" cy="62179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31596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83280" y="4315968"/>
            <a:ext cx="2697480" cy="621792"/>
          </a:xfrm>
          <a:prstGeom prst="rect">
            <a:avLst/>
          </a:prstGeom>
          <a:solidFill>
            <a:srgbClr val="FDE8E8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431596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+ declarative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315968"/>
            <a:ext cx="2697480" cy="621792"/>
          </a:xfrm>
          <a:prstGeom prst="rect">
            <a:avLst/>
          </a:prstGeom>
          <a:solidFill>
            <a:srgbClr val="F0F0F3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31596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state-based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78240" y="4315968"/>
            <a:ext cx="2697480" cy="621792"/>
          </a:xfrm>
          <a:prstGeom prst="rect">
            <a:avLst/>
          </a:prstGeom>
          <a:solidFill>
            <a:srgbClr val="F0F0F3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431596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pull-based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4937760"/>
            <a:ext cx="2834640" cy="62179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93776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383280" y="4937760"/>
            <a:ext cx="2697480" cy="621792"/>
          </a:xfrm>
          <a:prstGeom prst="rect">
            <a:avLst/>
          </a:prstGeom>
          <a:solidFill>
            <a:srgbClr val="FDE8E8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493776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080760" y="4937760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93776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– Medium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778240" y="4937760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15400" y="493776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– High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48640" y="5559552"/>
            <a:ext cx="2834640" cy="62179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5559552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pairing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83280" y="5559552"/>
            <a:ext cx="2697480" cy="621792"/>
          </a:xfrm>
          <a:prstGeom prst="rect">
            <a:avLst/>
          </a:prstGeom>
          <a:solidFill>
            <a:srgbClr val="FDE8E8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555955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provisioning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080760" y="5559552"/>
            <a:ext cx="2697480" cy="621792"/>
          </a:xfrm>
          <a:prstGeom prst="rect">
            <a:avLst/>
          </a:prstGeom>
          <a:solidFill>
            <a:srgbClr val="F0F0F3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555955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the infra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778240" y="5559552"/>
            <a:ext cx="2697480" cy="621792"/>
          </a:xfrm>
          <a:prstGeom prst="rect">
            <a:avLst/>
          </a:prstGeom>
          <a:solidFill>
            <a:srgbClr val="F0F0F3"/>
          </a:solidFill>
          <a:ln w="9525">
            <a:solidFill>
              <a:srgbClr val="E0E0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15400" y="555955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fleets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48640" y="64099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Terraform provisions the cloud infrastructure; Ansible configures and deploys onto it.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&amp; Verifying Ansible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 setup (run once)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Debian / Ubuntu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 &amp;&amp; sudo apt install ansible -y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RHEL / CentOS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ansible-core -y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via pip (any OS)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pip install ansible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test connectivity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212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 all -i inventory.ini -m 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Checklist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2615184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4871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node: Linux/macOS with Python 3.9+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3236976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31089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nodes: Python 3 present (most distros ship it)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3858768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7307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key-based auth configured to target hosts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448056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43525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/ become privileges for privileged tasks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5102352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49743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SSH (22) or WinRM (5985/5986) reachable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5724144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55961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control-node agent needed on Windows nodes — WinRM is used instead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Inventory: Defining Your Hosts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inventory (INI)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[webservers]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web01.example.com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web02.example.com  ansible_port=2222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[dbservers]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db01.example.com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[production:children]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dbservers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inventory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(aws_ec2, azure_rm) query the cloud provider's API at runtime, so autoscaled or ephemeral hosts are always current — no manual editing.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2062"/>
            </a:avLst>
          </a:prstGeom>
          <a:solidFill>
            <a:srgbClr val="2A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Host → Variable Hierarchy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514600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EE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514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3291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232342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291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0" y="3291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232342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291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75120" y="406908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webservers: web01, web02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4636008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6360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dbservers: db01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5202936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52029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loadbalancers: lb01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59070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group_vars/ and host_vars/ attach variables at each level — host-level always wins.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Ad-Hoc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tasks without writing a playbook — great for quick checks and fixes.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58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 all -m ping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connectivity to every host in inventory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 webservers -m shell -a "df -h"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307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shell command against the webservers group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068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16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 all -m yum -a "name=nginx state=latest" -b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097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Install/update a package with elevated privileges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3858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4955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 db -m service -a "name=postgresql state=restarted" -b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8873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 service on database hosts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Playbooks: Automation as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4434840"/>
          </a:xfrm>
          <a:prstGeom prst="roundRect">
            <a:avLst>
              <a:gd name="adj" fmla="val 1649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5486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Configure and deploy web servers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webservers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true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vars: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app_port: 8080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Install nginx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apt: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present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Deploy site configuration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template: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src: nginx.conf.j2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dest: /etc/nginx/sites-available/app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notify: Restart nginx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handlers: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Restart nginx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service: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9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restarted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67665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Playbook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2377440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468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95160" y="2761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set of hosts to the tasks that should run against them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3383280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3474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37673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call to a module — the smallest unit of 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4389120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95160" y="47731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that only fires when notified, e.g. restart a service after config changes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5394960"/>
            <a:ext cx="48463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5486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57790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Elevates privileges (sudo) for tasks that need root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Facts &amp; Precedence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variables come from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Auto-discovered system data — OS, IP, memory — gathered at play start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2783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 group_vars/ or host_vars/, or inline in the inventory file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879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role vars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the playbook, role defaults, or vars 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FDE8E8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1480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vars (-e)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440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on the CLI — highest precedence, overrides everything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increases top to bottom — extra vars (-e) always win.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facts &amp; variables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19456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3317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Show OS and memory facts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debug: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msg: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{{ ansible_distribution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has {{ ansible_memtotal_mb }}MB RAM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Use a custom variable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src: app.conf.j2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dest: "/etc/app/{{ app_env }}.conf"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app_env: production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Modules: The Building Blocks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modules ship with Ansible, covering nearly every layer of the stack.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317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95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7706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apt, yum, dnf, pip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31089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Install/remove software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2148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3317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005072" y="2295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7706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copy, template, file, lineinfile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files &amp; content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3317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21424" y="2295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27706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service, systemd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82512" y="31089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enable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97696" y="2148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98864" y="23317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37776" y="2295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98864" y="27706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ec2, azure_rm, gcp_compute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98864" y="31089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cloud resources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9319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3895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3708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docker_container, k8s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" y="47091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containers &amp; pods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749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9319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005072" y="3895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43708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user, group, authorized_key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47091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accounts &amp; access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81344" y="3749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2512" y="39319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821424" y="3895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43708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uri, get_url, firewalld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82512" y="47091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calls, downloads, firewall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97696" y="3749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8864" y="3931920"/>
            <a:ext cx="292608" cy="292608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9637776" y="3895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98864" y="4370832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mysql_db, postgresql_db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198864" y="470916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databases &amp; users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Roles: Reusable, Shareable Automation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package tasks, handlers, templates, files, and defaults into a standard, reusable directory layout — so logic isn't duplicated across playbooks.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complex playbooks from small, testable units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72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across teams or publish via Ansible Galaxy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398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role to dev, staging, and 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43984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068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defaults overridable per-environment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roles/webserver/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4231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tasks/main.yml       # the role's task list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handlers/main.yml    # notify-triggered actions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           # Jinja2 (.j2) config files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files/                # static files to copy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vars/main.yml        # high-priority variables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defaults/main.yml    # low-priority, overridable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meta/main.yml        # role metadata &amp; dependencies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                # test playbook &amp; inventory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4983480"/>
            <a:ext cx="4663440" cy="0"/>
          </a:xfrm>
          <a:prstGeom prst="line">
            <a:avLst/>
          </a:prstGeom>
          <a:noFill/>
          <a:ln w="12700">
            <a:solidFill>
              <a:srgbClr val="343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5120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role in a playbook: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5394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hosts: webservers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webserver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monitoring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with Jinja2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module renders .j2 files with variables, facts, and logic baked in — perfect for config files that differ per host or environment.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nginx.conf.j2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listen {{ app_port | default(80) }};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server_name {{ ansible_hostname }};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if enable_ssl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ssl_certificate {{ ssl_cert_path }};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endif %}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for loc in locations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{{ loc.path }}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proxy_pass {{ loc.upstream }};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endfor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0936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essentials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880360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264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variable_name }} inserts a value directly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886200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977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4270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 | upper }}, | default('x'), | to_json and more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4892040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983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2760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%} / {% else %} / {% endif %} blocks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5897880"/>
            <a:ext cx="53035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989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62819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item in list %} to repeat template blocks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Conditionals, Loops &amp; Handlers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3611880" cy="502920"/>
          </a:xfrm>
          <a:prstGeom prst="roundRect">
            <a:avLst>
              <a:gd name="adj" fmla="val 16364"/>
            </a:avLst>
          </a:prstGeom>
          <a:solidFill>
            <a:srgbClr val="E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13432"/>
            <a:ext cx="3611880" cy="246888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546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Restart only on RedHat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httpd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restarted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when: ansible_os_family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== "RedHat"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61688" y="205740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2057400"/>
            <a:ext cx="3611880" cy="502920"/>
          </a:xfrm>
          <a:prstGeom prst="roundRect">
            <a:avLst>
              <a:gd name="adj" fmla="val 16364"/>
            </a:avLst>
          </a:prstGeom>
          <a:solidFill>
            <a:srgbClr val="EE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361688" y="2313432"/>
            <a:ext cx="3611880" cy="246888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057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743200"/>
            <a:ext cx="31546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Create app users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item }}"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present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loop: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alice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bob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74736" y="205740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2057400"/>
            <a:ext cx="3611880" cy="502920"/>
          </a:xfrm>
          <a:prstGeom prst="roundRect">
            <a:avLst>
              <a:gd name="adj" fmla="val 16364"/>
            </a:avLst>
          </a:prstGeom>
          <a:solidFill>
            <a:srgbClr val="EE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8174736" y="2313432"/>
            <a:ext cx="3611880" cy="246888"/>
          </a:xfrm>
          <a:prstGeom prst="rect">
            <a:avLst/>
          </a:prstGeom>
          <a:solidFill>
            <a:srgbClr val="E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03336" y="2057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03336" y="2743200"/>
            <a:ext cx="31546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Update config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src: app.j2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dest: /etc/app.conf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notify: Restart app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handlers: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Restart app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service: name=app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state=restarted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Vault: Securing Secrets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encrypts sensitive data — passwords, API keys, certificates — at rest, so secrets can live safely in version control alongside the rest of the automation.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770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create secrets.yml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50792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33672" y="25146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2715768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56632" y="2770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encrypt vars/prod.yml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35824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918704" y="251460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47304" y="2715768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8147304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41664" y="27706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7304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site.yml --ask-vault-pass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encryption:  </a:t>
            </a:r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just one variable inline with !vault while leaving the file readable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920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IDs:  </a:t>
            </a:r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--vault-id to support multiple passwords for different environments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577840"/>
            <a:ext cx="128016" cy="128016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440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friendly:  </a:t>
            </a:r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vault password in a secrets manager and pass it via --vault-password-file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Galaxy &amp; Collections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write everything from scratch — Galaxy hosts community and vendor-maintained roles and collections.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requirements.yml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community.general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azure.azcollection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amazon.aws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geerlingguy.nginx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F5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version: "3.1.4"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4937760" cy="0"/>
          </a:xfrm>
          <a:prstGeom prst="line">
            <a:avLst/>
          </a:prstGeom>
          <a:noFill/>
          <a:ln w="12700">
            <a:solidFill>
              <a:srgbClr val="343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install -r requirements.yml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 in requirements.yml so builds stay reproducible across environments and time.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10312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32342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311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2560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automation for a single purpose — install &amp; configure nginx, PostgreSQL, Docker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42900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32342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5570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886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of roles, modules, and plugins — often the way cloud vendors ship their modules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475488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32342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8828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content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5212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Hat-certified collections for enterprise support (Automation Hub)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Provisioning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132130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130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CloudFormation stands up VMs, networks &amp; cloud resources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351586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1586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429000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inventory plugin discovers the new hosts automatically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042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71042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429000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install packages, harden OS, set up users &amp; baseline config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EE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498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90498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6948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3429000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push application code, render templates, restart services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3520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26880" y="2103120"/>
            <a:ext cx="2057400" cy="3291840"/>
          </a:xfrm>
          <a:prstGeom prst="roundRect">
            <a:avLst>
              <a:gd name="adj" fmla="val 3556"/>
            </a:avLst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99548" y="23317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09954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6404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0" y="3429000"/>
            <a:ext cx="16916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&amp; post-tasks confirm services are healthy and idempotent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fits between infrastructure provisioning and application runtime — same playbooks work across on-prem, AWS, Azure, and Kubernetes nodes.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Integration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playbooks like application code — lint, test, and run them through a pipeline instead of executing manually from a laptop.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E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2263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change pushed to Git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95828" y="3063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60420" y="237744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3300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E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3300" y="3090672"/>
            <a:ext cx="2263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Test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43300" y="3401568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ansible-lint + Molecule scenario tests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07608" y="3063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E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090672"/>
            <a:ext cx="2263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unlock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3401568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pulls vault password from secrets manager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19388" y="30632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83980" y="2377440"/>
            <a:ext cx="26289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0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66860" y="2560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E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91668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6860" y="3090672"/>
            <a:ext cx="2263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66860" y="3401568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ansible-playbook runs against target inventory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pipelines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484632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1A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4846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120640" y="4846320"/>
            <a:ext cx="1097280" cy="502920"/>
          </a:xfrm>
          <a:prstGeom prst="roundRect">
            <a:avLst>
              <a:gd name="adj" fmla="val 50909"/>
            </a:avLst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4846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484632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846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4846320"/>
            <a:ext cx="3474720" cy="502920"/>
          </a:xfrm>
          <a:prstGeom prst="roundRect">
            <a:avLst>
              <a:gd name="adj" fmla="val 50909"/>
            </a:avLst>
          </a:prstGeom>
          <a:solidFill>
            <a:srgbClr val="1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846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/ Ansible Automation Platform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/ the Ansible Automation Platform add a UI, RBAC, scheduling, and centralized job logging on top of the CLI workflow.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playbooks idempotent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tasks to be safely re-run — avoid raw shell commands where a module exists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286000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roles from day 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single-server project benefits from the standard role layout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286000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770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everything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1363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Playbooks, inventory, and requirements.yml belong in Git like any other code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50208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78808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plaintext secrets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Vault-encrypt sensitive vars; keep the vault password out of the repo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950208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178808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before you run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ansible-lint and --check --diff catch mistakes before they touch production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950208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2A2A45"/>
          </a:solidFill>
          <a:ln w="12700">
            <a:solidFill>
              <a:srgbClr val="3434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178808"/>
            <a:ext cx="365760" cy="36576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and scope runs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--tags / --limit so large playbooks can be run selectively and safely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232342"/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5303520"/>
            <a:ext cx="2377440" cy="237744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End to End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architecture, YAML playbooks, roles for reuse, Vault for secrets, and a pipeline that takes it from a laptop to production — Ansible covers config management and deployment end to 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1280160" cy="0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2026-07-24T04:27:59Z</dcterms:created>
  <dcterms:modified xsi:type="dcterms:W3CDTF">2026-07-24T04:27:59Z</dcterms:modified>
</cp:coreProperties>
</file>