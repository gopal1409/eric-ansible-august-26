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2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1.png"/><Relationship Id="rId4" Type="http://schemas.openxmlformats.org/officeDocument/2006/relationships/image" Target="../media/image-10-1.png"/><Relationship Id="rId5" Type="http://schemas.openxmlformats.org/officeDocument/2006/relationships/image" Target="../media/image-10-1.png"/><Relationship Id="rId6" Type="http://schemas.openxmlformats.org/officeDocument/2006/relationships/image" Target="../media/image-10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14400"/>
            <a:ext cx="12188952" cy="0"/>
          </a:xfrm>
          <a:prstGeom prst="line">
            <a:avLst/>
          </a:prstGeom>
          <a:noFill/>
          <a:ln w="6350">
            <a:solidFill>
              <a:srgbClr val="1C7293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920240"/>
            <a:ext cx="12188952" cy="0"/>
          </a:xfrm>
          <a:prstGeom prst="line">
            <a:avLst/>
          </a:prstGeom>
          <a:noFill/>
          <a:ln w="6350">
            <a:solidFill>
              <a:srgbClr val="1C7293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926080"/>
            <a:ext cx="12188952" cy="0"/>
          </a:xfrm>
          <a:prstGeom prst="line">
            <a:avLst/>
          </a:prstGeom>
          <a:noFill/>
          <a:ln w="6350">
            <a:solidFill>
              <a:srgbClr val="1C7293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931920"/>
            <a:ext cx="12188952" cy="0"/>
          </a:xfrm>
          <a:prstGeom prst="line">
            <a:avLst/>
          </a:prstGeom>
          <a:noFill/>
          <a:ln w="6350">
            <a:solidFill>
              <a:srgbClr val="1C7293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37760"/>
            <a:ext cx="12188952" cy="0"/>
          </a:xfrm>
          <a:prstGeom prst="line">
            <a:avLst/>
          </a:prstGeom>
          <a:noFill/>
          <a:ln w="6350">
            <a:solidFill>
              <a:srgbClr val="1C7293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943600"/>
            <a:ext cx="12188952" cy="0"/>
          </a:xfrm>
          <a:prstGeom prst="line">
            <a:avLst/>
          </a:prstGeom>
          <a:noFill/>
          <a:ln w="6350">
            <a:solidFill>
              <a:srgbClr val="1C7293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77724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0" descr="icon_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4362" y="1018642"/>
            <a:ext cx="523037" cy="52303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2468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300" kern="0" dirty="0">
                <a:solidFill>
                  <a:srgbClr val="9FC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INFRASTRUCTURE INVENTORY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22960" y="288036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 Management with Ansible</a:t>
            </a:r>
            <a:endParaRPr lang="en-US" sz="4400" dirty="0"/>
          </a:p>
        </p:txBody>
      </p:sp>
      <p:sp>
        <p:nvSpPr>
          <p:cNvPr id="12" name="Text 9"/>
          <p:cNvSpPr/>
          <p:nvPr/>
        </p:nvSpPr>
        <p:spPr>
          <a:xfrm>
            <a:off x="822960" y="39776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static host lists to dynamic, cloud-aware automation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822960" y="4572000"/>
            <a:ext cx="146304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6172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Engineering · DevOps Automation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5394960" cy="1097280"/>
          </a:xfrm>
          <a:prstGeom prst="roundRect">
            <a:avLst>
              <a:gd name="adj" fmla="val 6667"/>
            </a:avLst>
          </a:prstGeom>
          <a:solidFill>
            <a:srgbClr val="F4F8FA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947672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on_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2090318"/>
            <a:ext cx="309067" cy="30906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828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554480" y="207568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inventory sprawl problem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309360" y="1691640"/>
            <a:ext cx="5394960" cy="1097280"/>
          </a:xfrm>
          <a:prstGeom prst="roundRect">
            <a:avLst>
              <a:gd name="adj" fmla="val 6667"/>
            </a:avLst>
          </a:prstGeom>
          <a:solidFill>
            <a:srgbClr val="F4F8FA"/>
          </a:solidFill>
          <a:ln/>
        </p:spPr>
      </p:sp>
      <p:sp>
        <p:nvSpPr>
          <p:cNvPr id="9" name="Shape 6"/>
          <p:cNvSpPr/>
          <p:nvPr/>
        </p:nvSpPr>
        <p:spPr>
          <a:xfrm>
            <a:off x="6537960" y="1947672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0" name="Image 1" descr="icon_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0606" y="2090318"/>
            <a:ext cx="309067" cy="30906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15200" y="1828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7315200" y="207568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inventory fundamentals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548640" y="3063240"/>
            <a:ext cx="5394960" cy="1097280"/>
          </a:xfrm>
          <a:prstGeom prst="roundRect">
            <a:avLst>
              <a:gd name="adj" fmla="val 6667"/>
            </a:avLst>
          </a:prstGeom>
          <a:solidFill>
            <a:srgbClr val="F4F8FA"/>
          </a:solidFill>
          <a:ln/>
        </p:spPr>
      </p:sp>
      <p:sp>
        <p:nvSpPr>
          <p:cNvPr id="14" name="Shape 10"/>
          <p:cNvSpPr/>
          <p:nvPr/>
        </p:nvSpPr>
        <p:spPr>
          <a:xfrm>
            <a:off x="777240" y="3319272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5" name="Image 2" descr="icon_balan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3461918"/>
            <a:ext cx="309067" cy="30906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54480" y="32004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554480" y="344728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vs. dynamic inventory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6309360" y="3063240"/>
            <a:ext cx="5394960" cy="1097280"/>
          </a:xfrm>
          <a:prstGeom prst="roundRect">
            <a:avLst>
              <a:gd name="adj" fmla="val 6667"/>
            </a:avLst>
          </a:prstGeom>
          <a:solidFill>
            <a:srgbClr val="F4F8FA"/>
          </a:solidFill>
          <a:ln/>
        </p:spPr>
      </p:sp>
      <p:sp>
        <p:nvSpPr>
          <p:cNvPr id="19" name="Shape 14"/>
          <p:cNvSpPr/>
          <p:nvPr/>
        </p:nvSpPr>
        <p:spPr>
          <a:xfrm>
            <a:off x="6537960" y="3319272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0" name="Image 3" descr="icon_clou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0606" y="3461918"/>
            <a:ext cx="309067" cy="30906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315200" y="32004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7315200" y="344728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plugins: AWS &amp; Azure</a:t>
            </a:r>
            <a:endParaRPr lang="en-US" sz="1500" dirty="0"/>
          </a:p>
        </p:txBody>
      </p:sp>
      <p:sp>
        <p:nvSpPr>
          <p:cNvPr id="23" name="Shape 17"/>
          <p:cNvSpPr/>
          <p:nvPr/>
        </p:nvSpPr>
        <p:spPr>
          <a:xfrm>
            <a:off x="548640" y="4434840"/>
            <a:ext cx="5394960" cy="1097280"/>
          </a:xfrm>
          <a:prstGeom prst="roundRect">
            <a:avLst>
              <a:gd name="adj" fmla="val 6667"/>
            </a:avLst>
          </a:prstGeom>
          <a:solidFill>
            <a:srgbClr val="F4F8FA"/>
          </a:solidFill>
          <a:ln/>
        </p:spPr>
      </p:sp>
      <p:sp>
        <p:nvSpPr>
          <p:cNvPr id="24" name="Shape 18"/>
          <p:cNvSpPr/>
          <p:nvPr/>
        </p:nvSpPr>
        <p:spPr>
          <a:xfrm>
            <a:off x="777240" y="4690872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5" name="Image 4" descr="icon_laye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886" y="4833518"/>
            <a:ext cx="309067" cy="309067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554480" y="45720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1554480" y="481888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Organizing groups &amp; variables</a:t>
            </a:r>
            <a:endParaRPr lang="en-US" sz="1500" dirty="0"/>
          </a:p>
        </p:txBody>
      </p:sp>
      <p:sp>
        <p:nvSpPr>
          <p:cNvPr id="28" name="Shape 21"/>
          <p:cNvSpPr/>
          <p:nvPr/>
        </p:nvSpPr>
        <p:spPr>
          <a:xfrm>
            <a:off x="6309360" y="4434840"/>
            <a:ext cx="5394960" cy="1097280"/>
          </a:xfrm>
          <a:prstGeom prst="roundRect">
            <a:avLst>
              <a:gd name="adj" fmla="val 6667"/>
            </a:avLst>
          </a:prstGeom>
          <a:solidFill>
            <a:srgbClr val="F4F8FA"/>
          </a:solidFill>
          <a:ln/>
        </p:spPr>
      </p:sp>
      <p:sp>
        <p:nvSpPr>
          <p:cNvPr id="29" name="Shape 22"/>
          <p:cNvSpPr/>
          <p:nvPr/>
        </p:nvSpPr>
        <p:spPr>
          <a:xfrm>
            <a:off x="6537960" y="4690872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0" name="Image 5" descr="icon_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0606" y="4833518"/>
            <a:ext cx="309067" cy="309067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315200" y="45720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300" dirty="0"/>
          </a:p>
        </p:txBody>
      </p:sp>
      <p:sp>
        <p:nvSpPr>
          <p:cNvPr id="32" name="Text 24"/>
          <p:cNvSpPr/>
          <p:nvPr/>
        </p:nvSpPr>
        <p:spPr>
          <a:xfrm>
            <a:off x="7315200" y="481888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&amp; a working example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Inventory with Ansible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Inventory Sprawl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grows faster than manual host lists can track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692640" y="457200"/>
            <a:ext cx="1737360" cy="1737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icon_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9606" y="874166"/>
            <a:ext cx="903427" cy="90342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965960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F4F8FA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213055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host files go stale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251460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EC2 or Azure VM instances aren't automatically added to the servers Ansible manages.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309360" y="1965960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F4F8FA"/>
          </a:solidFill>
          <a:ln/>
        </p:spPr>
      </p:sp>
      <p:sp>
        <p:nvSpPr>
          <p:cNvPr id="10" name="Text 7"/>
          <p:cNvSpPr/>
          <p:nvPr/>
        </p:nvSpPr>
        <p:spPr>
          <a:xfrm>
            <a:off x="6629400" y="213055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source of truth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629400" y="251460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teams keep separate lists per cloud, region, or environment that drift out of sync.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3749040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F4F8FA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391363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Risky, error-prone changes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68680" y="429768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Hand-edited INI files lead to missed hosts, typos, and playbooks that hit the wrong targets.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309360" y="3749040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F4F8FA"/>
          </a:solidFill>
          <a:ln/>
        </p:spPr>
      </p:sp>
      <p:sp>
        <p:nvSpPr>
          <p:cNvPr id="16" name="Text 13"/>
          <p:cNvSpPr/>
          <p:nvPr/>
        </p:nvSpPr>
        <p:spPr>
          <a:xfrm>
            <a:off x="6629400" y="391363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scale with automation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629400" y="429768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and autoscaling create and destroy machines faster than any spreadsheet can track.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Inventory with Ansible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 Ansible Inventory?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list Ansible uses to know which hosts to manage, and how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on_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1934870"/>
            <a:ext cx="427939" cy="427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73736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file (or script) that defines </a:t>
            </a:r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</a:t>
            </a:r>
            <a:pPr indent="0" marL="0"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organizes them into </a:t>
            </a:r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</a:t>
            </a:r>
            <a:pPr indent="0" marL="0"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468880"/>
            <a:ext cx="6492240" cy="3566160"/>
          </a:xfrm>
          <a:prstGeom prst="roundRect">
            <a:avLst>
              <a:gd name="adj" fmla="val 2051"/>
            </a:avLst>
          </a:prstGeom>
          <a:solidFill>
            <a:srgbClr val="F4F8FA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265176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characteristics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310896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format: INI or YAML — e.g. inventory.ini or inventory.yml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379476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can carry variables: ansible_user, ansible_host, ansible_port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22960" y="448056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can nest inside other groups with [group:children]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22960" y="516636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 to any command with -i inventory.yml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315200" y="2468880"/>
            <a:ext cx="4297680" cy="3566160"/>
          </a:xfrm>
          <a:prstGeom prst="roundRect">
            <a:avLst>
              <a:gd name="adj" fmla="val 2051"/>
            </a:avLst>
          </a:prstGeom>
          <a:solidFill>
            <a:srgbClr val="21295C"/>
          </a:solidFill>
          <a:ln/>
        </p:spPr>
      </p:sp>
      <p:sp>
        <p:nvSpPr>
          <p:cNvPr id="14" name="Text 11"/>
          <p:cNvSpPr/>
          <p:nvPr/>
        </p:nvSpPr>
        <p:spPr>
          <a:xfrm>
            <a:off x="7543800" y="26060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C6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inventory.ini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543800" y="292608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[webservers]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web1.example.com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web2.example.com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[dbservers]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db1.example.com  ansible_port=2222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[cloud:children]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webservers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dbservers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Inventory with Ansible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vs. Dynamic Inventory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tell Ansible what it's managing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F4F8F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116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icon_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216529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1031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Inventory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283464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Hand-written INI or YAML file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342900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small, stable environments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14400" y="402336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to read and version-control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14400" y="461772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manually updated as hosts change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14400" y="521208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awareness of cloud APIs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263640" y="173736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065A82"/>
          </a:solidFill>
          <a:ln/>
        </p:spPr>
      </p:sp>
      <p:sp>
        <p:nvSpPr>
          <p:cNvPr id="14" name="Shape 11"/>
          <p:cNvSpPr/>
          <p:nvPr/>
        </p:nvSpPr>
        <p:spPr>
          <a:xfrm>
            <a:off x="6537960" y="20116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1" descr="icon_clou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1579" y="2165299"/>
            <a:ext cx="332842" cy="33284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360920" y="21031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Inventory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6629400" y="283464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6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live sources: AWS, Azure, GCP, CMDB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629400" y="342900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6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elastic, autoscaling environments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6629400" y="402336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6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reflects the current infrastructure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6629400" y="461772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6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via inventory plugins (YAML) or scripts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6629400" y="521208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6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tag- and metadata-based grouping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Inventory with Ansible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Inventory: Cloud Plugins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ships inventory plugins for every major cloud provider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784080" y="502920"/>
            <a:ext cx="1645920" cy="1645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icon_clou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9101" y="897941"/>
            <a:ext cx="855878" cy="85587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96596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F4F8FA"/>
          </a:solidFill>
          <a:ln/>
        </p:spPr>
      </p:sp>
      <p:sp>
        <p:nvSpPr>
          <p:cNvPr id="7" name="Shape 4"/>
          <p:cNvSpPr/>
          <p:nvPr/>
        </p:nvSpPr>
        <p:spPr>
          <a:xfrm>
            <a:off x="777240" y="2167128"/>
            <a:ext cx="3291840" cy="786384"/>
          </a:xfrm>
          <a:prstGeom prst="roundRect">
            <a:avLst>
              <a:gd name="adj" fmla="val 6977"/>
            </a:avLst>
          </a:prstGeom>
          <a:solidFill>
            <a:srgbClr val="21295C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2167128"/>
            <a:ext cx="31089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6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amazon.aws.aws_ec2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297680" y="2103120"/>
            <a:ext cx="7040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EC2 instances by region, tag, or VPC; groups hosts automatically by tag key/value.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338328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F4F8FA"/>
          </a:solidFill>
          <a:ln/>
        </p:spPr>
      </p:sp>
      <p:sp>
        <p:nvSpPr>
          <p:cNvPr id="11" name="Shape 8"/>
          <p:cNvSpPr/>
          <p:nvPr/>
        </p:nvSpPr>
        <p:spPr>
          <a:xfrm>
            <a:off x="777240" y="3584448"/>
            <a:ext cx="3291840" cy="786384"/>
          </a:xfrm>
          <a:prstGeom prst="roundRect">
            <a:avLst>
              <a:gd name="adj" fmla="val 6977"/>
            </a:avLst>
          </a:prstGeom>
          <a:solidFill>
            <a:srgbClr val="21295C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" y="3584448"/>
            <a:ext cx="31089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6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azure.azcollection.azure_rm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297680" y="3520440"/>
            <a:ext cx="7040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Discovers Azure VMs via the Resource Manager API; groups by resource group, location, or tag.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48640" y="480060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F4F8FA"/>
          </a:solidFill>
          <a:ln/>
        </p:spPr>
      </p:sp>
      <p:sp>
        <p:nvSpPr>
          <p:cNvPr id="15" name="Shape 12"/>
          <p:cNvSpPr/>
          <p:nvPr/>
        </p:nvSpPr>
        <p:spPr>
          <a:xfrm>
            <a:off x="777240" y="5001768"/>
            <a:ext cx="3291840" cy="786384"/>
          </a:xfrm>
          <a:prstGeom prst="roundRect">
            <a:avLst>
              <a:gd name="adj" fmla="val 6977"/>
            </a:avLst>
          </a:prstGeom>
          <a:solidFill>
            <a:srgbClr val="21295C"/>
          </a:solidFill>
          <a:ln/>
        </p:spPr>
      </p:sp>
      <p:sp>
        <p:nvSpPr>
          <p:cNvPr id="16" name="Text 13"/>
          <p:cNvSpPr/>
          <p:nvPr/>
        </p:nvSpPr>
        <p:spPr>
          <a:xfrm>
            <a:off x="868680" y="5001768"/>
            <a:ext cx="31089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6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google.cloud.gcp_compute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297680" y="4937760"/>
            <a:ext cx="7040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Compute Engine instances by project, zone, and label.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Inventory with Ansible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Dynamic Inventory in Practice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YAML source file replaces the manual host list — Ansible does the discovery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858000" cy="4480560"/>
          </a:xfrm>
          <a:prstGeom prst="roundRect">
            <a:avLst>
              <a:gd name="adj" fmla="val 1633"/>
            </a:avLst>
          </a:prstGeom>
          <a:solidFill>
            <a:srgbClr val="0F3A5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C6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aws_ec2.yml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63093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plugin: amazon.aws.aws_ec2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regions: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us-east-1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eu-west-1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filters: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tag:Environment: production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keyed_groups: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key: tags.Role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prefix: role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key: placement.region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prefix: region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compose: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ansible_host: public_ip_address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635240" y="1600200"/>
            <a:ext cx="4023360" cy="4480560"/>
          </a:xfrm>
          <a:prstGeom prst="roundRect">
            <a:avLst>
              <a:gd name="adj" fmla="val 1818"/>
            </a:avLst>
          </a:prstGeom>
          <a:solidFill>
            <a:srgbClr val="F4F8FA"/>
          </a:solidFill>
          <a:ln/>
        </p:spPr>
      </p:sp>
      <p:sp>
        <p:nvSpPr>
          <p:cNvPr id="8" name="Shape 6"/>
          <p:cNvSpPr/>
          <p:nvPr/>
        </p:nvSpPr>
        <p:spPr>
          <a:xfrm>
            <a:off x="7909560" y="182880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9" name="Image 0" descr="icon_term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52206" y="1971446"/>
            <a:ext cx="309067" cy="30906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909560" y="25146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with: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909560" y="27889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ansible-inventory -i aws_ec2.yml --graph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909560" y="347472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Instances are grouped by tag automatically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909560" y="411480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host list to maintain by hand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909560" y="475488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Refreshes on every playbook run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Inventory with Ansible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Organizing Groups &amp; Variables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host-specific and group-wide settings out of the inventory file itself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4F8F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47672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icon_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4750" y="2145182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87452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group_vars/ and host_vars/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783080" y="2212848"/>
            <a:ext cx="9052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auto-loads group_vars/&lt;group&gt;.yml and host_vars/&lt;host&gt;.yml — no need to reference them explicitly.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3246120"/>
            <a:ext cx="3566160" cy="2697480"/>
          </a:xfrm>
          <a:prstGeom prst="roundRect">
            <a:avLst>
              <a:gd name="adj" fmla="val 2712"/>
            </a:avLst>
          </a:prstGeom>
          <a:solidFill>
            <a:srgbClr val="21295C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34290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C6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group_vars/webservers.yml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77240" y="4023360"/>
            <a:ext cx="31089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http_port: 80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max_clients: 200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env: production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297680" y="3246120"/>
            <a:ext cx="3566160" cy="2697480"/>
          </a:xfrm>
          <a:prstGeom prst="roundRect">
            <a:avLst>
              <a:gd name="adj" fmla="val 2712"/>
            </a:avLst>
          </a:prstGeom>
          <a:solidFill>
            <a:srgbClr val="21295C"/>
          </a:solidFill>
          <a:ln/>
        </p:spPr>
      </p:sp>
      <p:sp>
        <p:nvSpPr>
          <p:cNvPr id="13" name="Text 10"/>
          <p:cNvSpPr/>
          <p:nvPr/>
        </p:nvSpPr>
        <p:spPr>
          <a:xfrm>
            <a:off x="4526280" y="34290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C6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group_vars/all.yml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26280" y="4023360"/>
            <a:ext cx="31089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ansible_user: deploy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timezone: UTC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046720" y="3246120"/>
            <a:ext cx="3566160" cy="2697480"/>
          </a:xfrm>
          <a:prstGeom prst="roundRect">
            <a:avLst>
              <a:gd name="adj" fmla="val 2712"/>
            </a:avLst>
          </a:prstGeom>
          <a:solidFill>
            <a:srgbClr val="21295C"/>
          </a:solidFill>
          <a:ln/>
        </p:spPr>
      </p:sp>
      <p:sp>
        <p:nvSpPr>
          <p:cNvPr id="16" name="Text 13"/>
          <p:cNvSpPr/>
          <p:nvPr/>
        </p:nvSpPr>
        <p:spPr>
          <a:xfrm>
            <a:off x="8275320" y="34290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C6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host_vars/db1.example.com.yml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275320" y="4023360"/>
            <a:ext cx="31089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ansible_port: 2222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db_role: primary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Inventory with Ansible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Pieces Fit Together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infrastructure sources to a running playbook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30936" y="2377440"/>
            <a:ext cx="2286000" cy="1463040"/>
          </a:xfrm>
          <a:prstGeom prst="roundRect">
            <a:avLst>
              <a:gd name="adj" fmla="val 6250"/>
            </a:avLst>
          </a:prstGeom>
          <a:solidFill>
            <a:srgbClr val="F4F8FA"/>
          </a:solidFill>
          <a:ln/>
        </p:spPr>
      </p:sp>
      <p:sp>
        <p:nvSpPr>
          <p:cNvPr id="5" name="Shape 3"/>
          <p:cNvSpPr/>
          <p:nvPr/>
        </p:nvSpPr>
        <p:spPr>
          <a:xfrm>
            <a:off x="1408176" y="2578608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icon_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3741" y="2754173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30936" y="3337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Hosts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30936" y="3584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inventory.ini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916936" y="3108960"/>
            <a:ext cx="594360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511296" y="2377440"/>
            <a:ext cx="2286000" cy="1463040"/>
          </a:xfrm>
          <a:prstGeom prst="roundRect">
            <a:avLst>
              <a:gd name="adj" fmla="val 6250"/>
            </a:avLst>
          </a:prstGeom>
          <a:solidFill>
            <a:srgbClr val="F4F8FA"/>
          </a:solidFill>
          <a:ln/>
        </p:spPr>
      </p:sp>
      <p:sp>
        <p:nvSpPr>
          <p:cNvPr id="11" name="Shape 8"/>
          <p:cNvSpPr/>
          <p:nvPr/>
        </p:nvSpPr>
        <p:spPr>
          <a:xfrm>
            <a:off x="4288536" y="2578608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icon_clou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4101" y="2754173"/>
            <a:ext cx="380390" cy="38039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11296" y="3337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APIs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511296" y="3584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/ Azure / GCP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797296" y="3108960"/>
            <a:ext cx="594360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6391656" y="2377440"/>
            <a:ext cx="2286000" cy="1463040"/>
          </a:xfrm>
          <a:prstGeom prst="roundRect">
            <a:avLst>
              <a:gd name="adj" fmla="val 6250"/>
            </a:avLst>
          </a:prstGeom>
          <a:solidFill>
            <a:srgbClr val="065A82"/>
          </a:solidFill>
          <a:ln/>
        </p:spPr>
      </p:sp>
      <p:sp>
        <p:nvSpPr>
          <p:cNvPr id="17" name="Shape 13"/>
          <p:cNvSpPr/>
          <p:nvPr/>
        </p:nvSpPr>
        <p:spPr>
          <a:xfrm>
            <a:off x="7168896" y="2578608"/>
            <a:ext cx="731520" cy="73152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8" name="Image 2" descr="icon_f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4461" y="2754173"/>
            <a:ext cx="380390" cy="38039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91656" y="3337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Inventory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391656" y="3584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&amp; grouped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8677656" y="3108960"/>
            <a:ext cx="594360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9272016" y="2377440"/>
            <a:ext cx="2286000" cy="1463040"/>
          </a:xfrm>
          <a:prstGeom prst="roundRect">
            <a:avLst>
              <a:gd name="adj" fmla="val 6250"/>
            </a:avLst>
          </a:prstGeom>
          <a:solidFill>
            <a:srgbClr val="F4F8FA"/>
          </a:solidFill>
          <a:ln/>
        </p:spPr>
      </p:sp>
      <p:sp>
        <p:nvSpPr>
          <p:cNvPr id="23" name="Shape 18"/>
          <p:cNvSpPr/>
          <p:nvPr/>
        </p:nvSpPr>
        <p:spPr>
          <a:xfrm>
            <a:off x="10049256" y="2578608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4" name="Image 3" descr="icon_termin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4821" y="2754173"/>
            <a:ext cx="380390" cy="38039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272016" y="3337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 Run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9272016" y="3584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ansible-playbook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1371600" y="457200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merges every configured source into one inventory, then resolves group and host variables before a single task runs.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Inventory with Ansible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 for Inventory Management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4F8FA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2075688"/>
            <a:ext cx="594360" cy="594360"/>
          </a:xfrm>
          <a:prstGeom prst="ellipse">
            <a:avLst/>
          </a:prstGeom>
          <a:solidFill>
            <a:srgbClr val="2FA36B"/>
          </a:solidFill>
          <a:ln/>
        </p:spPr>
      </p:sp>
      <p:pic>
        <p:nvPicPr>
          <p:cNvPr id="5" name="Image 0" descr="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2218334"/>
            <a:ext cx="309067" cy="30906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920240"/>
            <a:ext cx="4160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dynamic plugins over static files for any autoscaling or cloud-managed fleet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309360" y="178308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4F8FA"/>
          </a:solidFill>
          <a:ln/>
        </p:spPr>
      </p:sp>
      <p:sp>
        <p:nvSpPr>
          <p:cNvPr id="8" name="Shape 5"/>
          <p:cNvSpPr/>
          <p:nvPr/>
        </p:nvSpPr>
        <p:spPr>
          <a:xfrm>
            <a:off x="6537960" y="2075688"/>
            <a:ext cx="594360" cy="594360"/>
          </a:xfrm>
          <a:prstGeom prst="ellipse">
            <a:avLst/>
          </a:prstGeom>
          <a:solidFill>
            <a:srgbClr val="2FA36B"/>
          </a:solidFill>
          <a:ln/>
        </p:spPr>
      </p:sp>
      <p:pic>
        <p:nvPicPr>
          <p:cNvPr id="9" name="Image 1" descr="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0606" y="2218334"/>
            <a:ext cx="309067" cy="30906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15200" y="1920240"/>
            <a:ext cx="4160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secrets out of inventory — use ansible-vault for credentials and sensitive vars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48640" y="320040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4F8FA"/>
          </a:solidFill>
          <a:ln/>
        </p:spPr>
      </p:sp>
      <p:sp>
        <p:nvSpPr>
          <p:cNvPr id="12" name="Shape 8"/>
          <p:cNvSpPr/>
          <p:nvPr/>
        </p:nvSpPr>
        <p:spPr>
          <a:xfrm>
            <a:off x="777240" y="3493008"/>
            <a:ext cx="594360" cy="594360"/>
          </a:xfrm>
          <a:prstGeom prst="ellipse">
            <a:avLst/>
          </a:prstGeom>
          <a:solidFill>
            <a:srgbClr val="2FA36B"/>
          </a:solidFill>
          <a:ln/>
        </p:spPr>
      </p:sp>
      <p:pic>
        <p:nvPicPr>
          <p:cNvPr id="13" name="Image 2" descr="icon_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3635654"/>
            <a:ext cx="309067" cy="30906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54480" y="3337560"/>
            <a:ext cx="4160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keyed_groups and tags for consistent, predictable automatic grouping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309360" y="320040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4F8FA"/>
          </a:solidFill>
          <a:ln/>
        </p:spPr>
      </p:sp>
      <p:sp>
        <p:nvSpPr>
          <p:cNvPr id="16" name="Shape 11"/>
          <p:cNvSpPr/>
          <p:nvPr/>
        </p:nvSpPr>
        <p:spPr>
          <a:xfrm>
            <a:off x="6537960" y="3493008"/>
            <a:ext cx="594360" cy="594360"/>
          </a:xfrm>
          <a:prstGeom prst="ellipse">
            <a:avLst/>
          </a:prstGeom>
          <a:solidFill>
            <a:srgbClr val="2FA36B"/>
          </a:solidFill>
          <a:ln/>
        </p:spPr>
      </p:sp>
      <p:pic>
        <p:nvPicPr>
          <p:cNvPr id="17" name="Image 3" descr="icon_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0606" y="3635654"/>
            <a:ext cx="309067" cy="30906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315200" y="3337560"/>
            <a:ext cx="4160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Version-control static inventories and group_vars/host_vars alongside playbooks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548640" y="461772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4F8FA"/>
          </a:solidFill>
          <a:ln/>
        </p:spPr>
      </p:sp>
      <p:sp>
        <p:nvSpPr>
          <p:cNvPr id="20" name="Shape 14"/>
          <p:cNvSpPr/>
          <p:nvPr/>
        </p:nvSpPr>
        <p:spPr>
          <a:xfrm>
            <a:off x="777240" y="4910328"/>
            <a:ext cx="594360" cy="594360"/>
          </a:xfrm>
          <a:prstGeom prst="ellipse">
            <a:avLst/>
          </a:prstGeom>
          <a:solidFill>
            <a:srgbClr val="2FA36B"/>
          </a:solidFill>
          <a:ln/>
        </p:spPr>
      </p:sp>
      <p:pic>
        <p:nvPicPr>
          <p:cNvPr id="21" name="Image 4" descr="icon_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886" y="5052974"/>
            <a:ext cx="309067" cy="309067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554480" y="4754880"/>
            <a:ext cx="4160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dynamic inventory results for large environments to speed up runs</a:t>
            </a:r>
            <a:endParaRPr lang="en-US" sz="1250" dirty="0"/>
          </a:p>
        </p:txBody>
      </p:sp>
      <p:sp>
        <p:nvSpPr>
          <p:cNvPr id="23" name="Shape 16"/>
          <p:cNvSpPr/>
          <p:nvPr/>
        </p:nvSpPr>
        <p:spPr>
          <a:xfrm>
            <a:off x="6309360" y="461772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4F8FA"/>
          </a:solidFill>
          <a:ln/>
        </p:spPr>
      </p:sp>
      <p:sp>
        <p:nvSpPr>
          <p:cNvPr id="24" name="Shape 17"/>
          <p:cNvSpPr/>
          <p:nvPr/>
        </p:nvSpPr>
        <p:spPr>
          <a:xfrm>
            <a:off x="6537960" y="4910328"/>
            <a:ext cx="594360" cy="594360"/>
          </a:xfrm>
          <a:prstGeom prst="ellipse">
            <a:avLst/>
          </a:prstGeom>
          <a:solidFill>
            <a:srgbClr val="2FA36B"/>
          </a:solidFill>
          <a:ln/>
        </p:spPr>
      </p:sp>
      <p:pic>
        <p:nvPicPr>
          <p:cNvPr id="25" name="Image 5" descr="icon_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0606" y="5052974"/>
            <a:ext cx="309067" cy="309067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315200" y="4754880"/>
            <a:ext cx="4160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with ansible-inventory --graph before every major playbook change</a:t>
            </a:r>
            <a:endParaRPr lang="en-US" sz="1250" dirty="0"/>
          </a:p>
        </p:txBody>
      </p:sp>
      <p:sp>
        <p:nvSpPr>
          <p:cNvPr id="27" name="Text 1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Inventory with Ansible</a:t>
            </a:r>
            <a:endParaRPr lang="en-US" sz="900" dirty="0"/>
          </a:p>
        </p:txBody>
      </p:sp>
      <p:sp>
        <p:nvSpPr>
          <p:cNvPr id="28" name="Text 2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Putting It Together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playbook that patches every production web server, wherever it runs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766560" cy="4389120"/>
          </a:xfrm>
          <a:prstGeom prst="roundRect">
            <a:avLst>
              <a:gd name="adj" fmla="val 1667"/>
            </a:avLst>
          </a:prstGeom>
          <a:solidFill>
            <a:srgbClr val="0F3A5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C6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site.yml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63093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Patch production web tier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hosts: role_webserver:&amp;region_us_east_1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become: true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tasks: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name: Update packages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ansible.builtin.apt: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upgrade: dist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update_cache: true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name: Restart nginx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ansible.builtin.service: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name: nginx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state: restarted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589520" y="1645920"/>
            <a:ext cx="4069080" cy="4389120"/>
          </a:xfrm>
          <a:prstGeom prst="roundRect">
            <a:avLst>
              <a:gd name="adj" fmla="val 1798"/>
            </a:avLst>
          </a:prstGeom>
          <a:solidFill>
            <a:srgbClr val="F4F8FA"/>
          </a:solidFill>
          <a:ln/>
        </p:spPr>
      </p:sp>
      <p:sp>
        <p:nvSpPr>
          <p:cNvPr id="8" name="Shape 6"/>
          <p:cNvSpPr/>
          <p:nvPr/>
        </p:nvSpPr>
        <p:spPr>
          <a:xfrm>
            <a:off x="7863840" y="187452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9" name="Image 0" descr="icon_term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6486" y="2017166"/>
            <a:ext cx="309067" cy="30906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863840" y="2560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Command: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863840" y="28346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ansible-playbook \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-i aws_ec2.yml \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site.yml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863840" y="384048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dynamic inventory supplies the hosts; the group names (role_webserver, region_us_east_1) come straight from EC2 tags.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Inventory with Ansible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3152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icon_fl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4362" y="972922"/>
            <a:ext cx="523037" cy="5230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920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822960" y="274320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E6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inventory works for small, stable environments — nothing more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22960" y="342900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E6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plugins keep inventory accurate as cloud infrastructure changes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411480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E6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your resources well; tags become your Ansible groups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480060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E6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group_vars and host_vars keep configuration close to the inventory, not buried in playbooks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Inventory with Ansible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2026-08-03T09:04:11Z</dcterms:created>
  <dcterms:modified xsi:type="dcterms:W3CDTF">2026-08-03T09:04:11Z</dcterms:modified>
</cp:coreProperties>
</file>