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6.png"/><Relationship Id="rId7" Type="http://schemas.openxmlformats.org/officeDocument/2006/relationships/image" Target="../media/image-7-2.png"/><Relationship Id="rId8" Type="http://schemas.openxmlformats.org/officeDocument/2006/relationships/image" Target="../media/image-7-2.png"/><Relationship Id="rId9" Type="http://schemas.openxmlformats.org/officeDocument/2006/relationships/image" Target="../media/image-7-2.png"/><Relationship Id="rId10" Type="http://schemas.openxmlformats.org/officeDocument/2006/relationships/image" Target="../media/image-7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-ppt/icons/git_al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210312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Workflow, Branching &amp;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43434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collaborating on code with Git: everyday workflow, branching strategies, and how authentication and authorization keep repositories safe.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5623560"/>
            <a:ext cx="2011680" cy="0"/>
          </a:xfrm>
          <a:prstGeom prst="line">
            <a:avLst/>
          </a:prstGeom>
          <a:noFill/>
          <a:ln w="38100">
            <a:solidFill>
              <a:srgbClr val="F05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Enablement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building blocks for working with Git on a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6" name="Image 0" descr="/home/claude/git-ppt/icons/diagram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5968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21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Git Workflow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62432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changes move from your working directory through staging, local history, and out to a shared remote.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59359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00507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1" name="Image 1" descr="/home/claude/git-ppt/icons/branch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41330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7581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Branching Strategies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91640" y="4160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isolate work with branches, and how Git Flow, GitHub Flow, and trunk-based development compare.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129784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554126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6" name="Image 2" descr="/home/claude/git-ppt/icons/usershield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6692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52943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Authentication &amp; Authorization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91640" y="569671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Git proves who you are (SSH / tokens) and controls what you're allowed to do (repo roles, branch protection).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passes through four stages on its way to the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5216" y="2606040"/>
            <a:ext cx="2377440" cy="2651760"/>
          </a:xfrm>
          <a:prstGeom prst="roundRect">
            <a:avLst>
              <a:gd name="adj" fmla="val 269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3063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6" name="Image 0" descr="/home/claude/git-ppt/icons/terminal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3246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Directory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2376" y="4663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edit locally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370332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03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697480" y="5486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65576" y="2606040"/>
            <a:ext cx="2377440" cy="2651760"/>
          </a:xfrm>
          <a:prstGeom prst="roundRect">
            <a:avLst>
              <a:gd name="adj" fmla="val 269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42816" y="3063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3" name="Image 1" descr="/home/claude/git-ppt/icons/clipboardlis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32461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016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Area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02736" y="4663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marked for the next commit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897880" y="370332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033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577840" y="5486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45936" y="2606040"/>
            <a:ext cx="2377440" cy="2651760"/>
          </a:xfrm>
          <a:prstGeom prst="roundRect">
            <a:avLst>
              <a:gd name="adj" fmla="val 269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23176" y="3063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20" name="Image 2" descr="/home/claude/git-ppt/icons/codecommi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32461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37376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Repository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83096" y="4663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saved to project history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778240" y="370332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5033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458200" y="5486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226296" y="2606040"/>
            <a:ext cx="2377440" cy="2651760"/>
          </a:xfrm>
          <a:prstGeom prst="roundRect">
            <a:avLst>
              <a:gd name="adj" fmla="val 269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003536" y="3063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27" name="Image 3" descr="/home/claude/git-ppt/icons/cloud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32461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17736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Repository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363456" y="4663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history on GitHub / GitLab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85216" y="594360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locally builds a private, staged history; pushing shares it with the team.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Branch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cycle for shipping a change without disturbing main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591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6" name="Image 0" descr="/home/claude/git-ppt/icons/bran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7802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17320" y="2331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from main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3591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2" name="Image 1" descr="/home/claude/git-ppt/icons/codecommi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47802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9472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57800" y="2331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changes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Small, focused commits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210312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8200" y="23591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8" name="Image 2" descr="/home/claude/git-ppt/icons/cloud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478024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59952" y="2221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098280" y="2331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to remote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5820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feature/x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37083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24" name="Image 3" descr="/home/claude/git-ppt/icons/codepullreques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489704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4233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41732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 pull request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77240" y="5074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 the merge into main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89120" y="411480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17720" y="437083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30" name="Image 4" descr="/home/claude/git-ppt/icons/eye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489704"/>
            <a:ext cx="265176" cy="2651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19472" y="4233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25780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discuss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617720" y="5074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Teammates comment, approve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29600" y="411480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458200" y="437083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36" name="Image 5" descr="/home/claude/git-ppt/icons/check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4489704"/>
            <a:ext cx="265176" cy="26517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759952" y="4233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909828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&amp; clean up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458200" y="5074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Merge, then delete the branch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Strategies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teams isolate work in different ways — pick the one that fits your release cadence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releases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Flow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971800" cy="0"/>
          </a:xfrm>
          <a:prstGeom prst="line">
            <a:avLst/>
          </a:prstGeom>
          <a:noFill/>
          <a:ln w="12700">
            <a:solidFill>
              <a:srgbClr val="3D4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develop and main branches, plus dedicated feature, release, and hotfix branches. Structured, but heavier to maintain.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4231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Flow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3520440"/>
            <a:ext cx="2971800" cy="0"/>
          </a:xfrm>
          <a:prstGeom prst="line">
            <a:avLst/>
          </a:prstGeom>
          <a:noFill/>
          <a:ln w="12700">
            <a:solidFill>
              <a:srgbClr val="3D4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branch, always deployable. Every change is a short-lived feature branch merged via pull request after review.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4231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merges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03920" y="2971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Trunk-Based Dev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03920" y="3520440"/>
            <a:ext cx="2971800" cy="0"/>
          </a:xfrm>
          <a:prstGeom prst="line">
            <a:avLst/>
          </a:prstGeom>
          <a:noFill/>
          <a:ln w="12700">
            <a:solidFill>
              <a:srgbClr val="3D44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frequent commits straight to (or nearly to) main, often behind feature flags. Minimizes merge conflicts and drift.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824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versioned software with staged QA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5824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SaaS products shipping continuously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5824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mature teams with strong CI &amp; flags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Cheat Sheet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you'll reach for most often when creating and managing branches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3950208"/>
          </a:xfrm>
          <a:prstGeom prst="roundRect">
            <a:avLst>
              <a:gd name="adj" fmla="val 138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5" name="Image 0" descr="/home/claude/git-ppt/icons/bran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311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574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205740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local branches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pic>
        <p:nvPicPr>
          <p:cNvPr id="9" name="Image 1" descr="/home/claude/git-ppt/icons/branch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8950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157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&lt;name&gt;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69280" y="271576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to a new branch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374136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pic>
        <p:nvPicPr>
          <p:cNvPr id="13" name="Image 2" descr="/home/claude/git-ppt/icons/exchang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4787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3741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&lt;name&gt;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69280" y="337413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an existing branch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032504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pic>
        <p:nvPicPr>
          <p:cNvPr id="17" name="Image 3" descr="/home/claude/git-ppt/icons/codecommi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0624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03250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&lt;name&gt;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69280" y="403250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branch into the current one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690872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pic>
        <p:nvPicPr>
          <p:cNvPr id="21" name="Image 4" descr="/home/claude/git-ppt/icons/histo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64608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69087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&lt;name&gt;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669280" y="469087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commits on top of another branch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pic>
        <p:nvPicPr>
          <p:cNvPr id="25" name="Image 5" descr="/home/claude/git-ppt/icons/ban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22976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53492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&lt;name&gt;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669280" y="534924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merged branch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vs. Rebase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bring a branch's changes together — with different effects on history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6" name="Image 0" descr="/home/claude/git-ppt/icons/codecommi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774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</a:t>
            </a:r>
            <a:endParaRPr lang="en-US" sz="1900" dirty="0"/>
          </a:p>
        </p:txBody>
      </p:sp>
      <p:pic>
        <p:nvPicPr>
          <p:cNvPr id="8" name="Image 1" descr="/home/claude/git-ppt/icons/check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7355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1729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merge commit</a:t>
            </a:r>
            <a:endParaRPr lang="en-US" sz="1300" dirty="0"/>
          </a:p>
        </p:txBody>
      </p:sp>
      <p:pic>
        <p:nvPicPr>
          <p:cNvPr id="10" name="Image 2" descr="/home/claude/git-ppt/icons/check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83133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full, true history</a:t>
            </a:r>
            <a:endParaRPr lang="en-US" sz="1300" dirty="0"/>
          </a:p>
        </p:txBody>
      </p:sp>
      <p:pic>
        <p:nvPicPr>
          <p:cNvPr id="12" name="Image 3" descr="/home/claude/git-ppt/icons/check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448970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— safe on shared branches</a:t>
            </a:r>
            <a:endParaRPr lang="en-US" sz="1300" dirty="0"/>
          </a:p>
        </p:txBody>
      </p:sp>
      <p:pic>
        <p:nvPicPr>
          <p:cNvPr id="14" name="Image 4" descr="/home/claude/git-ppt/icons/check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4865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51480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can get noisy with many merges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263640" y="20116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6583680" y="23317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8" name="Image 5" descr="/home/claude/git-ppt/icons/history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46888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315200" y="23774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9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</a:t>
            </a:r>
            <a:endParaRPr lang="en-US" sz="1900" dirty="0"/>
          </a:p>
        </p:txBody>
      </p:sp>
      <p:pic>
        <p:nvPicPr>
          <p:cNvPr id="20" name="Image 6" descr="/home/claude/git-ppt/icons/check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273552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03720" y="31729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commits onto a new base</a:t>
            </a:r>
            <a:endParaRPr lang="en-US" sz="1300" dirty="0"/>
          </a:p>
        </p:txBody>
      </p:sp>
      <p:pic>
        <p:nvPicPr>
          <p:cNvPr id="22" name="Image 7" descr="/home/claude/git-ppt/icons/check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93192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03720" y="383133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linear, cleaner history</a:t>
            </a:r>
            <a:endParaRPr lang="en-US" sz="1300" dirty="0"/>
          </a:p>
        </p:txBody>
      </p:sp>
      <p:pic>
        <p:nvPicPr>
          <p:cNvPr id="24" name="Image 8" descr="/home/claude/git-ppt/icons/check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590288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03720" y="448970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commit hashes</a:t>
            </a:r>
            <a:endParaRPr lang="en-US" sz="1300" dirty="0"/>
          </a:p>
        </p:txBody>
      </p:sp>
      <p:pic>
        <p:nvPicPr>
          <p:cNvPr id="26" name="Image 9" descr="/home/claude/git-ppt/icons/check_orang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5248656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03720" y="51480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rebasing branches others rely on</a:t>
            </a:r>
            <a:endParaRPr lang="en-US" sz="1300" dirty="0"/>
          </a:p>
        </p:txBody>
      </p:sp>
      <p:sp>
        <p:nvSpPr>
          <p:cNvPr id="28" name="Text 1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Authentication: Proving Who You 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needs to verify your identity before it lets you push to a remote repository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6" name="Image 0" descr="/home/claude/git-ppt/icons/key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3042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Keys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68680" y="3319272"/>
            <a:ext cx="73152" cy="731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1729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pair: private key stays on your machine, public key added to your account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096512"/>
            <a:ext cx="73152" cy="731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9502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password/token typed on every push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873752"/>
            <a:ext cx="73152" cy="731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7274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daily developer use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544068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24292E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5440680"/>
            <a:ext cx="4581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git@github.com:org/repo.git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63640" y="20116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0" y="23317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8" name="Image 1" descr="/home/claude/git-ppt/icons/lock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688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3042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+ Personal Access Token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6583680" y="3319272"/>
            <a:ext cx="73152" cy="731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31729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token stands in for your password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4096512"/>
            <a:ext cx="73152" cy="731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39502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permissions and an expiry date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83680" y="4873752"/>
            <a:ext cx="73152" cy="731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47274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behind proxies / firewalls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5440680"/>
            <a:ext cx="4800600" cy="457200"/>
          </a:xfrm>
          <a:prstGeom prst="roundRect">
            <a:avLst>
              <a:gd name="adj" fmla="val 10000"/>
            </a:avLst>
          </a:prstGeom>
          <a:solidFill>
            <a:srgbClr val="24292E"/>
          </a:solidFill>
          <a:ln/>
        </p:spPr>
      </p:sp>
      <p:sp>
        <p:nvSpPr>
          <p:cNvPr id="27" name="Text 23"/>
          <p:cNvSpPr/>
          <p:nvPr/>
        </p:nvSpPr>
        <p:spPr>
          <a:xfrm>
            <a:off x="6647688" y="5440680"/>
            <a:ext cx="4581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https://github.com/org/repo.git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Authorization: What You're Allowed to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you're authenticated, repository roles decide which actions you can perform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Roles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486400" cy="603504"/>
          </a:xfrm>
          <a:prstGeom prst="roundRect">
            <a:avLst>
              <a:gd name="adj" fmla="val 757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3774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clone the repository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5486400" cy="603504"/>
          </a:xfrm>
          <a:prstGeom prst="roundRect">
            <a:avLst>
              <a:gd name="adj" fmla="val 757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9067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09067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issues and pull requests, no code changes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486400" cy="603504"/>
          </a:xfrm>
          <a:prstGeom prst="roundRect">
            <a:avLst>
              <a:gd name="adj" fmla="val 757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0390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38039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commits and branches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5486400" cy="603504"/>
          </a:xfrm>
          <a:prstGeom prst="roundRect">
            <a:avLst>
              <a:gd name="adj" fmla="val 7576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1713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45171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repo settings, minus sensitive actions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230368"/>
            <a:ext cx="5486400" cy="603504"/>
          </a:xfrm>
          <a:prstGeom prst="roundRect">
            <a:avLst>
              <a:gd name="adj" fmla="val 7576"/>
            </a:avLst>
          </a:prstGeom>
          <a:solidFill>
            <a:srgbClr val="FFF1EE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3036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523036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including access and deletion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24292E"/>
          </a:solidFill>
          <a:ln/>
        </p:spPr>
      </p:sp>
      <p:pic>
        <p:nvPicPr>
          <p:cNvPr id="21" name="Image 0" descr="/home/claude/git-ppt/icons/shield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4028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269480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Protection Rules</a:t>
            </a:r>
            <a:endParaRPr lang="en-US" sz="1600" dirty="0"/>
          </a:p>
        </p:txBody>
      </p:sp>
      <p:pic>
        <p:nvPicPr>
          <p:cNvPr id="23" name="Image 1" descr="/home/claude/git-ppt/icons/check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71800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86600" y="28986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pull request before merging</a:t>
            </a:r>
            <a:endParaRPr lang="en-US" sz="1250" dirty="0"/>
          </a:p>
        </p:txBody>
      </p:sp>
      <p:pic>
        <p:nvPicPr>
          <p:cNvPr id="25" name="Image 2" descr="/home/claude/git-ppt/icons/check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538728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86600" y="34655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approving reviews (e.g. 1-2 reviewers)</a:t>
            </a:r>
            <a:endParaRPr lang="en-US" sz="1250" dirty="0"/>
          </a:p>
        </p:txBody>
      </p:sp>
      <p:pic>
        <p:nvPicPr>
          <p:cNvPr id="27" name="Image 3" descr="/home/claude/git-ppt/icons/check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105656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86600" y="40325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status checks (CI) to pass</a:t>
            </a:r>
            <a:endParaRPr lang="en-US" sz="1250" dirty="0"/>
          </a:p>
        </p:txBody>
      </p:sp>
      <p:pic>
        <p:nvPicPr>
          <p:cNvPr id="29" name="Image 4" descr="/home/claude/git-ppt/icons/check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67258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86600" y="45994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force-pushes and branch deletion</a:t>
            </a:r>
            <a:endParaRPr lang="en-US" sz="1250" dirty="0"/>
          </a:p>
        </p:txBody>
      </p:sp>
      <p:pic>
        <p:nvPicPr>
          <p:cNvPr id="31" name="Image 5" descr="/home/claude/git-ppt/icons/check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523951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5166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signed commits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2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authentication and authorization actually working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21992"/>
            <a:ext cx="502920" cy="502920"/>
          </a:xfrm>
          <a:prstGeom prst="ellipse">
            <a:avLst/>
          </a:prstGeom>
          <a:solidFill>
            <a:srgbClr val="24292E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6" name="Image 0" descr="/home/claude/git-ppt/icons/usershield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4086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07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2FA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17296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two-factor auth for all org members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2221992"/>
            <a:ext cx="502920" cy="502920"/>
          </a:xfrm>
          <a:prstGeom prst="ellipse">
            <a:avLst/>
          </a:prstGeom>
          <a:solidFill>
            <a:srgbClr val="24292E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1" name="Image 1" descr="/home/claude/git-ppt/icons/key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34086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807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Rotate credentials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45152" y="317296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expirations on tokens; rotate SSH keys periodically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85632" y="2221992"/>
            <a:ext cx="502920" cy="502920"/>
          </a:xfrm>
          <a:prstGeom prst="ellipse">
            <a:avLst/>
          </a:prstGeom>
          <a:solidFill>
            <a:srgbClr val="24292E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16" name="Image 2" descr="/home/claude/git-ppt/icons/codepullreques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34086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8072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reviews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85632" y="317296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pushes to main — always via reviewed PRs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24292E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21" name="Image 3" descr="/home/claude/git-ppt/icons/shield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489704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560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key branches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main / release branches with rules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5152" y="4370832"/>
            <a:ext cx="502920" cy="502920"/>
          </a:xfrm>
          <a:prstGeom prst="ellipse">
            <a:avLst/>
          </a:prstGeom>
          <a:solidFill>
            <a:srgbClr val="24292E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26" name="Image 4" descr="/home/claude/git-ppt/icons/idbadge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489704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9560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45152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the minimum role needed, audit access regularly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D333B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85632" y="4370832"/>
            <a:ext cx="502920" cy="502920"/>
          </a:xfrm>
          <a:prstGeom prst="ellipse">
            <a:avLst/>
          </a:prstGeom>
          <a:solidFill>
            <a:srgbClr val="24292E"/>
          </a:solidFill>
          <a:ln w="19050">
            <a:solidFill>
              <a:srgbClr val="F05033"/>
            </a:solidFill>
            <a:prstDash val="solid"/>
          </a:ln>
        </p:spPr>
      </p:sp>
      <p:pic>
        <p:nvPicPr>
          <p:cNvPr id="31" name="Image 5" descr="/home/claude/git-ppt/icons/check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4489704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95604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commits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85632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GPG/SSH signing to verify commit authorship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t-ppt/icons/git_al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15544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438248" y="3474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gets your changes in. Branching keeps work isolated.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 keep the repository safe.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81448" y="4480560"/>
            <a:ext cx="1828800" cy="0"/>
          </a:xfrm>
          <a:prstGeom prst="line">
            <a:avLst/>
          </a:prstGeom>
          <a:noFill/>
          <a:ln w="38100">
            <a:solidFill>
              <a:srgbClr val="F050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2026-08-06T04:05:23Z</dcterms:created>
  <dcterms:modified xsi:type="dcterms:W3CDTF">2026-08-06T04:05:23Z</dcterms:modified>
</cp:coreProperties>
</file>