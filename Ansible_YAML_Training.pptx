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440" y="100584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43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hosts: web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3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vars: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3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port: 8080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3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3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install nginx
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343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apt: {name: nginx}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48640" y="1965960"/>
            <a:ext cx="640080" cy="54864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1488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&amp; YAML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C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Structured Configuration — and How It Maps to Python Data Structures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walkthrough for platform &amp; DevOps engineers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874520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07008" y="1828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fundamentals &amp; syntax rules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98648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07008" y="28529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types ↔ Python types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22776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07008" y="38770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dictionaries, nested structures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946904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07008" y="49011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project directory structure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1874520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874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76288" y="182880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playbook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309360" y="2898648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8986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76288" y="28529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precedence &amp; data flow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309360" y="3922776"/>
            <a:ext cx="384048" cy="38404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922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76288" y="3877056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conditionals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309360" y="4946904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49469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876288" y="4901184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&amp; best practices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YAML, and Why Does Ansible Use It?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128016" cy="868680"/>
          </a:xfrm>
          <a:prstGeom prst="roundRect">
            <a:avLst>
              <a:gd name="adj" fmla="val 21429"/>
            </a:avLst>
          </a:prstGeom>
          <a:solidFill>
            <a:srgbClr val="D7263D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847088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Ain't Markup Language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868680" y="2167128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human-readable data-serialization format — designed to represent the same data structures every general-purpose language already has: scalars, lists, and mappings.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953512"/>
            <a:ext cx="128016" cy="868680"/>
          </a:xfrm>
          <a:prstGeom prst="roundRect">
            <a:avLst>
              <a:gd name="adj" fmla="val 21429"/>
            </a:avLst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Whitespace-significant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comes from indentation, not braces or brackets. Two files that render the same on screen are structurally identical to the parser.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32504"/>
            <a:ext cx="128016" cy="868680"/>
          </a:xfrm>
          <a:prstGeom prst="roundRect">
            <a:avLst>
              <a:gd name="adj" fmla="val 21429"/>
            </a:avLst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005072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 superset relationship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68680" y="4325112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JSON document is also valid YAML. Ansible tooling, module arguments, and vars files all read as one of these.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11496"/>
            <a:ext cx="128016" cy="868680"/>
          </a:xfrm>
          <a:prstGeom prst="roundRect">
            <a:avLst>
              <a:gd name="adj" fmla="val 21429"/>
            </a:avLst>
          </a:prstGeom>
          <a:solidFill>
            <a:srgbClr val="3A86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084064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Ansible chose it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868680" y="5404104"/>
            <a:ext cx="10607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Playbooks, inventories, and variable files needed to be declarative and diffable in version control — YAML gives readable structure without a programming syntax.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YAML Syntax Fundamentals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94360" y="1856232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/>
          <p:nvPr/>
        </p:nvSpPr>
        <p:spPr>
          <a:xfrm>
            <a:off x="896112" y="171907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may start with --- (optional, but conventional for playbooks).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2478024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340864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Indentation uses spaces only — never tabs. 2 spaces per level is the Ansible convention.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" y="3099816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29626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value pairs express a mapping. A space after the colon is required.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4360" y="3721608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3584448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beginning with # are comments and are ignored by the parser.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343400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2062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 + space (- ) starts each item of a list, indented under its parent key.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965192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" y="4828032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usually need no quotes; quote them when they contain : # { } [ ] or look like another type.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1965960"/>
            <a:ext cx="5257800" cy="4160520"/>
          </a:xfrm>
          <a:prstGeom prst="roundRect">
            <a:avLst>
              <a:gd name="adj" fmla="val 1758"/>
            </a:avLst>
          </a:prstGeom>
          <a:solidFill>
            <a:srgbClr val="12121C"/>
          </a:solidFill>
          <a:ln/>
        </p:spPr>
      </p:sp>
      <p:sp>
        <p:nvSpPr>
          <p:cNvPr id="16" name="Shape 14"/>
          <p:cNvSpPr/>
          <p:nvPr/>
        </p:nvSpPr>
        <p:spPr>
          <a:xfrm>
            <a:off x="6519672" y="181965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7263D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181965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11112" y="2167128"/>
            <a:ext cx="480060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Web server configuration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web-frontend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 8080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enabled: true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max_connections: 500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nginx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curl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git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timeout: 30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retries: 3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region: "us-east-1"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YAML Types ↔ Python Types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parses every YAML file (PyYAML) directly into native Python objects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11064240" cy="4434840"/>
        </p:xfrm>
        <a:graphic>
          <a:graphicData uri="http://schemas.openxmlformats.org/drawingml/2006/table">
            <a:tbl>
              <a:tblPr/>
              <a:tblGrid>
                <a:gridCol w="3566160"/>
                <a:gridCol w="2103120"/>
                <a:gridCol w="3291840"/>
                <a:gridCol w="2103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written 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YAML concept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equivalent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name: web01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 (string)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8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"web01"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port: 8080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 (integer)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8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8080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ratio: 0.75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 (float)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8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0.75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enabled: true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scalar (boolean)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8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value: ~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8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None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NoneType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packages: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 nginx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- git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8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['nginx', 'git']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settings: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port: 80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  ssl: true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i="1" dirty="0">
                          <a:solidFill>
                            <a:srgbClr val="6B6B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mapping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A86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{'port': 80, 'ssl': True}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Nested Lists &amp; Dictionaries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nesting rules apply recursively — a list can hold mappings, a mapping can hold lists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2121C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1965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7263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1965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4672" y="2167128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webservers: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web01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ip: 10.0.0.11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roles: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nginx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monitoring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name: web02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ip: 10.0.0.12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roles: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nginx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440680" cy="4297680"/>
          </a:xfrm>
          <a:prstGeom prst="roundRect">
            <a:avLst>
              <a:gd name="adj" fmla="val 1702"/>
            </a:avLst>
          </a:prstGeom>
          <a:solidFill>
            <a:srgbClr val="12121C"/>
          </a:solidFill>
          <a:ln/>
        </p:spPr>
      </p:sp>
      <p:sp>
        <p:nvSpPr>
          <p:cNvPr id="9" name="Shape 7"/>
          <p:cNvSpPr/>
          <p:nvPr/>
        </p:nvSpPr>
        <p:spPr>
          <a:xfrm>
            <a:off x="6336792" y="181965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3A86FF"/>
          </a:solidFill>
          <a:ln/>
        </p:spPr>
      </p:sp>
      <p:sp>
        <p:nvSpPr>
          <p:cNvPr id="10" name="Text 8"/>
          <p:cNvSpPr/>
          <p:nvPr/>
        </p:nvSpPr>
        <p:spPr>
          <a:xfrm>
            <a:off x="6336792" y="181965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28232" y="2167128"/>
            <a:ext cx="4983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webservers = [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'name': 'web01',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'ip': '10.0.0.11',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'roles': [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'nginx',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'monitoring',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{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'name': 'web02',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'ip': '10.0.0.12',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'roles': ['nginx'],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Ansible Project Directory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1B1B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7830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project/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97280" y="24231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423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ansible.cfg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097280" y="28803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F5F5F7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8803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site.yml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97280" y="33375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3375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inventory/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7947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group_vars/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97280" y="42519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3A86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2519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host_vars/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97280" y="470916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1B1B2A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470916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roles/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77640" y="4709160"/>
            <a:ext cx="2377440" cy="384048"/>
          </a:xfrm>
          <a:prstGeom prst="roundRect">
            <a:avLst>
              <a:gd name="adj" fmla="val 14286"/>
            </a:avLst>
          </a:prstGeom>
          <a:solidFill>
            <a:srgbClr val="26263A"/>
          </a:solidFill>
          <a:ln/>
        </p:spPr>
      </p:sp>
      <p:sp>
        <p:nvSpPr>
          <p:cNvPr id="18" name="Text 16"/>
          <p:cNvSpPr/>
          <p:nvPr/>
        </p:nvSpPr>
        <p:spPr>
          <a:xfrm>
            <a:off x="4069080" y="47091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webserver/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20840" y="19659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6812280" y="1965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tasks/main.yml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24231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1228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handlers/main.yml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720840" y="28803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28803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vars/main.yml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33375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6812280" y="33375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defaults/main.yml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720840" y="37947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3794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720840" y="4251960"/>
            <a:ext cx="2286000" cy="365760"/>
          </a:xfrm>
          <a:prstGeom prst="roundRect">
            <a:avLst>
              <a:gd name="adj" fmla="val 15000"/>
            </a:avLst>
          </a:prstGeom>
          <a:solidFill>
            <a:srgbClr val="F5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42519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22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files/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240280" y="2240280"/>
            <a:ext cx="0" cy="182880"/>
          </a:xfrm>
          <a:prstGeom prst="line">
            <a:avLst/>
          </a:prstGeom>
          <a:noFill/>
          <a:ln w="12700">
            <a:solidFill>
              <a:srgbClr val="C7C7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4901184"/>
            <a:ext cx="1554480" cy="0"/>
          </a:xfrm>
          <a:prstGeom prst="line">
            <a:avLst/>
          </a:prstGeom>
          <a:noFill/>
          <a:ln w="12700">
            <a:solidFill>
              <a:srgbClr val="C7C7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3657600"/>
            <a:ext cx="0" cy="1051560"/>
          </a:xfrm>
          <a:prstGeom prst="line">
            <a:avLst/>
          </a:prstGeom>
          <a:noFill/>
          <a:ln w="12700">
            <a:solidFill>
              <a:srgbClr val="C7C7D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bundle reusable automation. </a:t>
            </a:r>
            <a:pPr indent="0" marL="0">
              <a:buNone/>
            </a:pPr>
            <a:r>
              <a:rPr lang="en-US" sz="12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subfolder is discovered by name — tasks/main.yml runs automatically when the role is included, defaults/ provides the lowest-precedence variables.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Playbook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6766560" cy="4572000"/>
          </a:xfrm>
          <a:prstGeom prst="roundRect">
            <a:avLst>
              <a:gd name="adj" fmla="val 1600"/>
            </a:avLst>
          </a:prstGeom>
          <a:solidFill>
            <a:srgbClr val="12121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72821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7263D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2821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2075688"/>
            <a:ext cx="63093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Configure web servers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hosts: webservers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become: true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http_port: 8080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tasks: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Install nginx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ansible.builtin.apt: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present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name: Start nginx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ansible.builtin.service: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name: nginx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state: started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635240" y="1965960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8" name="Text 6"/>
          <p:cNvSpPr/>
          <p:nvPr/>
        </p:nvSpPr>
        <p:spPr>
          <a:xfrm>
            <a:off x="7635240" y="1965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83880" y="19110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playbook is a YAML list of plays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83880" y="233172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top-level element is a sequence ( - ) — even a single play is item 0 of a list.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635240" y="3383280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7635240" y="3383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83880" y="332841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/ vars / tasks are keys of a mapping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183880" y="37490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play is a dict; "tasks" holds a list of further dicts.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35240" y="4800600"/>
            <a:ext cx="384048" cy="384048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635240" y="4800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83880" y="474573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arguments are nested mappings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83880" y="51663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apt: { name: nginx, state: present } — Ansible passes this dict to the module as kwargs.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Precedence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8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below is parsed into a Python dict, then merged into one per-host "hostvars" dict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4114800" cy="566928"/>
          </a:xfrm>
          <a:prstGeom prst="roundRect">
            <a:avLst>
              <a:gd name="adj" fmla="val 8065"/>
            </a:avLst>
          </a:prstGeom>
          <a:solidFill>
            <a:srgbClr val="26263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965960"/>
            <a:ext cx="3749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 defaults/main.yml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22960" y="2624328"/>
            <a:ext cx="4864608" cy="566928"/>
          </a:xfrm>
          <a:prstGeom prst="roundRect">
            <a:avLst>
              <a:gd name="adj" fmla="val 8065"/>
            </a:avLst>
          </a:prstGeom>
          <a:solidFill>
            <a:srgbClr val="26263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624328"/>
            <a:ext cx="44988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group_vars/all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82696"/>
            <a:ext cx="5614416" cy="566928"/>
          </a:xfrm>
          <a:prstGeom prst="roundRect">
            <a:avLst>
              <a:gd name="adj" fmla="val 8065"/>
            </a:avLst>
          </a:prstGeom>
          <a:solidFill>
            <a:srgbClr val="26263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3282696"/>
            <a:ext cx="52486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group_vars/&lt;group&gt;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941064"/>
            <a:ext cx="6364224" cy="566928"/>
          </a:xfrm>
          <a:prstGeom prst="roundRect">
            <a:avLst>
              <a:gd name="adj" fmla="val 8065"/>
            </a:avLst>
          </a:prstGeom>
          <a:solidFill>
            <a:srgbClr val="26263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941064"/>
            <a:ext cx="59984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inventory host_vars/&lt;host&gt;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599432"/>
            <a:ext cx="7114032" cy="566928"/>
          </a:xfrm>
          <a:prstGeom prst="roundRect">
            <a:avLst>
              <a:gd name="adj" fmla="val 8065"/>
            </a:avLst>
          </a:prstGeom>
          <a:solidFill>
            <a:srgbClr val="26263A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4599432"/>
            <a:ext cx="6748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 vars: / vars_files: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5257800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D7263D"/>
          </a:solidFill>
          <a:ln w="12700">
            <a:solidFill>
              <a:srgbClr val="3A3A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5257800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 vars: -e (command line)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869680" y="2011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precedence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509760" y="2331720"/>
            <a:ext cx="0" cy="3017520"/>
          </a:xfrm>
          <a:prstGeom prst="line">
            <a:avLst/>
          </a:prstGeom>
          <a:noFill/>
          <a:ln w="19050">
            <a:solidFill>
              <a:srgbClr val="5A5A7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869680" y="5440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precedence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&amp; Conditionals Run on the Same Structures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12121C"/>
          </a:solidFill>
          <a:ln/>
        </p:spPr>
      </p:sp>
      <p:sp>
        <p:nvSpPr>
          <p:cNvPr id="4" name="Shape 2"/>
          <p:cNvSpPr/>
          <p:nvPr/>
        </p:nvSpPr>
        <p:spPr>
          <a:xfrm>
            <a:off x="713232" y="172821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7263D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72821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04672" y="2075688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Install packages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ansible.builtin.apt: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"{{ item }}"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loop: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nginx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git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curl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loop: takes any YAML sequence — Ansible iterates the underlying Python list, binding each element to item.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72200" y="18745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12121C"/>
          </a:solidFill>
          <a:ln/>
        </p:spPr>
      </p:sp>
      <p:sp>
        <p:nvSpPr>
          <p:cNvPr id="9" name="Shape 7"/>
          <p:cNvSpPr/>
          <p:nvPr/>
        </p:nvSpPr>
        <p:spPr>
          <a:xfrm>
            <a:off x="6336792" y="172821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6336792" y="172821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28232" y="2075688"/>
            <a:ext cx="49834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Start service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ansible.builtin.service: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nginx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started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when: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ansible_os_family == "Debian"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http_port is defined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72200" y="4297680"/>
            <a:ext cx="5440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when: is evaluated as a Jinja2/Python boolean expression against the merged variable dict from the previous slide.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50749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12121C"/>
          </a:solidFill>
          <a:ln/>
        </p:spPr>
      </p:sp>
      <p:sp>
        <p:nvSpPr>
          <p:cNvPr id="14" name="Shape 12"/>
          <p:cNvSpPr/>
          <p:nvPr/>
        </p:nvSpPr>
        <p:spPr>
          <a:xfrm>
            <a:off x="713232" y="4928616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3A8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4928616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04672" y="5276088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item in ['nginx', 'git', 'curl']:      # loop:  -&gt;  Python list iteration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E7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ansible_os_family == 'Debian' and http_port is not None:   # when:  -&gt;  Python expression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2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YAML Pitfalls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8745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5F7"/>
          </a:solidFill>
          <a:ln/>
        </p:spPr>
      </p:sp>
      <p:sp>
        <p:nvSpPr>
          <p:cNvPr id="4" name="Shape 2"/>
          <p:cNvSpPr/>
          <p:nvPr/>
        </p:nvSpPr>
        <p:spPr>
          <a:xfrm>
            <a:off x="749808" y="2075688"/>
            <a:ext cx="82296" cy="822960"/>
          </a:xfrm>
          <a:prstGeom prst="roundRect">
            <a:avLst/>
          </a:prstGeom>
          <a:solidFill>
            <a:srgbClr val="D7263D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025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Tabs instead of spaces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36829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forbids tabs for indentation — most parsers fail immediately.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187452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6373368" y="2075688"/>
            <a:ext cx="82296" cy="822960"/>
          </a:xfrm>
          <a:prstGeom prst="roundRect">
            <a:avLst/>
          </a:prstGeom>
          <a:solidFill>
            <a:srgbClr val="D7263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20025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“Norway problem”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36829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Unquoted no, yes, on, off, y, n parse as booleans in YAML 1.1. Quote country/status codes: "NO".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" y="3493008"/>
            <a:ext cx="82296" cy="822960"/>
          </a:xfrm>
          <a:prstGeom prst="roundRect">
            <a:avLst/>
          </a:prstGeom>
          <a:solidFill>
            <a:srgbClr val="D7263D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34198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Numbers-as-strings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378561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version: 1.20 silently becomes the float 1.2. Quote it: version: "1.20".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329184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6373368" y="3493008"/>
            <a:ext cx="82296" cy="822960"/>
          </a:xfrm>
          <a:prstGeom prst="roundRect">
            <a:avLst/>
          </a:prstGeom>
          <a:solidFill>
            <a:srgbClr val="D7263D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4198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indent width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78561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2- and 4-space levels in one file is legal but breaks readability and diffs.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5F7"/>
          </a:solidFill>
          <a:ln/>
        </p:spPr>
      </p:sp>
      <p:sp>
        <p:nvSpPr>
          <p:cNvPr id="20" name="Shape 18"/>
          <p:cNvSpPr/>
          <p:nvPr/>
        </p:nvSpPr>
        <p:spPr>
          <a:xfrm>
            <a:off x="749808" y="4910328"/>
            <a:ext cx="82296" cy="822960"/>
          </a:xfrm>
          <a:prstGeom prst="roundRect">
            <a:avLst/>
          </a:prstGeom>
          <a:solidFill>
            <a:srgbClr val="D7263D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8371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Unquoted colons in values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520293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http://x.com breaks parsing — the second colon looks like a new mapping.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4709160"/>
            <a:ext cx="5349240" cy="1234440"/>
          </a:xfrm>
          <a:prstGeom prst="roundRect">
            <a:avLst>
              <a:gd name="adj" fmla="val 5185"/>
            </a:avLst>
          </a:prstGeom>
          <a:solidFill>
            <a:srgbClr val="F5F5F7"/>
          </a:solidFill>
          <a:ln/>
        </p:spPr>
      </p:sp>
      <p:sp>
        <p:nvSpPr>
          <p:cNvPr id="24" name="Shape 22"/>
          <p:cNvSpPr/>
          <p:nvPr/>
        </p:nvSpPr>
        <p:spPr>
          <a:xfrm>
            <a:off x="6373368" y="4910328"/>
            <a:ext cx="82296" cy="822960"/>
          </a:xfrm>
          <a:prstGeom prst="roundRect">
            <a:avLst/>
          </a:prstGeom>
          <a:solidFill>
            <a:srgbClr val="D7263D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8371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space after colon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5202936"/>
            <a:ext cx="4846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key:value is a single scalar, not a mapping — YAML requires key: value.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627632"/>
            <a:ext cx="310896" cy="31089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276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43000" y="15544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2-space indentation consistently; configure your editor to insert spaces, not tabs.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404872"/>
            <a:ext cx="310896" cy="3108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any scalar that could be misread as bool/number/null ("yes", "1.20", "NO").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182112"/>
            <a:ext cx="310896" cy="31089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821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10896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yamllint and ansible-lint before every commit.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959352"/>
            <a:ext cx="310896" cy="3108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95935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886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the 1:1 mapping: YAML mapping = Python dict, YAML sequence = Python list.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736592"/>
            <a:ext cx="310896" cy="31089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7365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43000" y="46634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variable precedence in mind — defaults lose to group_vars, which lose to host_vars and extra-vars.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5513832"/>
            <a:ext cx="310896" cy="310896"/>
          </a:xfrm>
          <a:prstGeom prst="ellipse">
            <a:avLst/>
          </a:prstGeom>
          <a:solidFill>
            <a:srgbClr val="3A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1383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54406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secrets with ansible-vault; never commit plaintext credentials in vars files.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&amp; YAML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2026-08-01T14:16:22Z</dcterms:created>
  <dcterms:modified xsi:type="dcterms:W3CDTF">2026-08-01T14:16:22Z</dcterms:modified>
</cp:coreProperties>
</file>