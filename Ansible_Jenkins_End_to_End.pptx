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029200" cy="5029200"/>
          </a:xfrm>
          <a:prstGeom prst="ellipse">
            <a:avLst/>
          </a:prstGeom>
          <a:solidFill>
            <a:srgbClr val="243349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2377440" cy="237744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 PIPELINE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Ansible + Jenkins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CI/CD pipeline where Jenkins orchestrates the build and Ansible configures, deploys, and verifies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1280160" cy="0"/>
          </a:xfrm>
          <a:prstGeom prst="line">
            <a:avLst/>
          </a:prstGeom>
          <a:noFill/>
          <a:ln w="38100">
            <a:solidFill>
              <a:srgbClr val="EE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Commit to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1B273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Pair Them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for orchestration, Ansible for configuration &amp; deployment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194560"/>
            <a:ext cx="502920" cy="502920"/>
          </a:xfrm>
          <a:prstGeom prst="ellipse">
            <a:avLst/>
          </a:prstGeom>
          <a:solidFill>
            <a:srgbClr val="1B2735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880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Security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33756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the pieces and wiring up credentials safely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2194560"/>
            <a:ext cx="502920" cy="502920"/>
          </a:xfrm>
          <a:prstGeom prst="ellipse">
            <a:avLst/>
          </a:prstGeom>
          <a:solidFill>
            <a:srgbClr val="1B2735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880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333756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stages that call into Ansible playbooks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9202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2194560"/>
            <a:ext cx="502920" cy="502920"/>
          </a:xfrm>
          <a:prstGeom prst="ellipse">
            <a:avLst/>
          </a:prstGeom>
          <a:solidFill>
            <a:srgbClr val="1B2735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1160" y="2880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81160" y="333756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Multi-environment gates, rollback, and notifications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Tools, One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and Ansible solve different problems. Together, they cover the full path from a code commit to a verified production deployment.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1B2735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889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3B8F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CI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529584"/>
            <a:ext cx="118872" cy="118872"/>
          </a:xfrm>
          <a:prstGeom prst="ellipse">
            <a:avLst/>
          </a:prstGeom>
          <a:solidFill>
            <a:srgbClr val="3B8FD4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3832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repos &amp; triggers builds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169664"/>
            <a:ext cx="118872" cy="118872"/>
          </a:xfrm>
          <a:prstGeom prst="ellipse">
            <a:avLst/>
          </a:prstGeom>
          <a:solidFill>
            <a:srgbClr val="3B8FD4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0233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tests, linting, and quality gates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809744"/>
            <a:ext cx="118872" cy="118872"/>
          </a:xfrm>
          <a:prstGeom prst="ellipse">
            <a:avLst/>
          </a:prstGeom>
          <a:solidFill>
            <a:srgbClr val="3B8FD4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6634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pipeline stages &amp; approvals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5449824"/>
            <a:ext cx="118872" cy="118872"/>
          </a:xfrm>
          <a:prstGeom prst="ellipse">
            <a:avLst/>
          </a:prstGeom>
          <a:solidFill>
            <a:srgbClr val="3B8FD4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035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build history and audit trail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251460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1B2735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27889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EE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788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0956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Deployment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3529584"/>
            <a:ext cx="118872" cy="118872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3832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servers to desired state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169664"/>
            <a:ext cx="118872" cy="118872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0233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application code and configs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4809744"/>
            <a:ext cx="118872" cy="118872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6634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 services, runs health checks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5449824"/>
            <a:ext cx="118872" cy="118872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53035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— safe to re-run anytime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243349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313432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788920"/>
            <a:ext cx="20939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 triggers a webhook on push or PR merge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44368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154680" y="214884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3B8FD4"/>
          </a:solidFill>
          <a:ln/>
        </p:spPr>
      </p:sp>
      <p:sp>
        <p:nvSpPr>
          <p:cNvPr id="9" name="Text 7"/>
          <p:cNvSpPr/>
          <p:nvPr/>
        </p:nvSpPr>
        <p:spPr>
          <a:xfrm>
            <a:off x="3319272" y="2313432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Controller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19272" y="2788920"/>
            <a:ext cx="20939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the pipeline, assigns it to an agent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50408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0" y="21488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243349"/>
          </a:solidFill>
          <a:ln/>
        </p:spPr>
      </p:sp>
      <p:sp>
        <p:nvSpPr>
          <p:cNvPr id="13" name="Text 11"/>
          <p:cNvSpPr/>
          <p:nvPr/>
        </p:nvSpPr>
        <p:spPr>
          <a:xfrm>
            <a:off x="5925312" y="2313432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Agent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25312" y="2788920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out code, runs tests, invokes ansible-playbook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47888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458200" y="214884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EE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622792" y="2313432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Control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22792" y="278892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inventory, connects over SSH, applies playbooks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27080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0378440" cy="1051560"/>
          </a:xfrm>
          <a:prstGeom prst="roundRect">
            <a:avLst>
              <a:gd name="adj" fmla="val 6957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5196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Nodes:  web servers  ·  application servers  ·  databases  ·  load balancers  ·  Kubernetes workers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532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never touches target servers directly — it delegates that work to Ansible, which connects over SSH.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&amp; Wiring the Pieces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Jenkins agent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1B273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Ansible must live where the pipeline runs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install ansible -y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 --version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SSH key the agent uses to reach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ssh-keygen -t ed25519 -f jenkins_ansible_key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plugins to install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6817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Plugin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184648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0657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Binding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568696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44982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Stage View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952744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8338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Agent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1783080"/>
            <a:ext cx="512064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Checklist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2615184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24871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controller + at least one agent with Python &amp; Ansible installed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66560" y="3273552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314553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from the agent added to each managed node's authorized_keys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66560" y="3931920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380390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file (or dynamic inventory plugin) accessible to the agent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66560" y="4590288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44622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Vault password stored in Jenkins Credentials, never in the repo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66560" y="5248656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5120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job configured with a Jenkinsfile from source control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66560" y="5907024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577900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connectivity once manually before wiring it into a pipeline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Credentials: Keeping Secrets Out of the Repo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Credentials store holds everything sensitive; the pipeline references credentials by ID and never prints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042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Private Key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jenkins_ansible_key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0" y="230428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Ansible authenticate to managed nodes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7355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83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Text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ansible_vault_password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0" y="33832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Vault-encrypted variable files at runtime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622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Username/Password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44622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cloud_api_credentials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0" y="446227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dynamic inventory plugins (AWS, Azure)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43349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492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withCredentials([sshUserPrivateKey(credentialsId: 'jenkins_ansible_key', keyFileVariable: 'KEY')]) { sh 'ansible-playbook -i inv site.yml --private-key=$KEY' }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Jenkinsfile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4434840"/>
          </a:xfrm>
          <a:prstGeom prst="roundRect">
            <a:avLst>
              <a:gd name="adj" fmla="val 1649"/>
            </a:avLst>
          </a:prstGeom>
          <a:solidFill>
            <a:srgbClr val="1B273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55778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{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 any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environment {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ANSIBLE_HOST_KEY_CHECKING = 'False'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stages {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stage('Checkout') { steps { checkout scm } }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stage('Lint') {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steps { sh 'ansible-lint site.yml' }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stage('Deploy') {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steps {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ansiblePlaybook(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playbook: 'site.yml',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inventory: 'inventory/prod.ini',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credentialsId: 'jenkins_ansible_key'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70" dirty="0"/>
          </a:p>
        </p:txBody>
      </p:sp>
      <p:sp>
        <p:nvSpPr>
          <p:cNvPr id="6" name="Text 4"/>
          <p:cNvSpPr/>
          <p:nvPr/>
        </p:nvSpPr>
        <p:spPr>
          <a:xfrm>
            <a:off x="685800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Blocks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2377440"/>
            <a:ext cx="47548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2468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86600" y="27614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Jenkins node runs this pipeline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0" y="3383280"/>
            <a:ext cx="47548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34747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37673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available to every stage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0" y="4389120"/>
            <a:ext cx="47548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44805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 / stage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86600" y="4773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ordered steps of the pipeline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5394960"/>
            <a:ext cx="47548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54864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ansiblePlaybook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86600" y="57790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step — wraps ansible-playbook cleanly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Pipeline, Stage by Stage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0449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latest commit from source control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3319272" y="2057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02152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&amp; Syntax Check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02152" y="30449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ansible-lint and ansible-playbook --syntax-check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089904" y="2057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72784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/ Molecule Test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72784" y="30449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roles in isolation before touching real hosts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860536" y="2057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43416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Staging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43416" y="30449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ansible-playbook against the staging inventory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14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9651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endpoints and service status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3319272" y="3977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4114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502152" y="4526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02152" y="49651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step gates the production deploy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089904" y="3977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0000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4114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72784" y="4526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Production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72784" y="49651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playbook, production inventory &amp; Vault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8860536" y="3977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3416" y="4114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43416" y="4526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43416" y="49651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pipeline result to Slack / email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Inventory in the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rarely stay fixed — autoscaling groups, spot instances, and freshly provisioned VMs change constantly. Dynamic inventory keeps the pipeline accurate without manual edits.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1B273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97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inventory/aws_ec2.yml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plugin: amazon.aws.aws_ec2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us-east-1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tag:Environment: production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keyed_groups: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key: tags.Role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prefix: role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Jenkins stage: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 'ansible-playbook -i inventory/aws_ec2.yml site.yml'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2706624"/>
            <a:ext cx="137160" cy="13716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25603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current:  </a:t>
            </a:r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instances are picked up automatically on the next run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3666744"/>
            <a:ext cx="137160" cy="13716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35204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via Jenkins:  </a:t>
            </a:r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keys come from the Credentials store, not the plugin file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4626864"/>
            <a:ext cx="137160" cy="13716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44805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carefully:  </a:t>
            </a:r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inventory caching for large fleets to keep pipeline runs fast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Ansible Vault, Unlocked by Jenkins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12848"/>
            <a:ext cx="457200" cy="457200"/>
          </a:xfrm>
          <a:prstGeom prst="ellipse">
            <a:avLst/>
          </a:prstGeom>
          <a:solidFill>
            <a:srgbClr val="1B273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2677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password saved as Secret Text in Jenkins Credentials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50792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33672" y="201168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62272" y="2212848"/>
            <a:ext cx="457200" cy="457200"/>
          </a:xfrm>
          <a:prstGeom prst="ellipse">
            <a:avLst/>
          </a:prstGeom>
          <a:solidFill>
            <a:srgbClr val="1B2735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56632" y="22677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62272" y="2880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withCredentials() writes it to a temp file at runtime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35824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18704" y="201168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47304" y="2212848"/>
            <a:ext cx="457200" cy="457200"/>
          </a:xfrm>
          <a:prstGeom prst="ellipse">
            <a:avLst/>
          </a:prstGeom>
          <a:solidFill>
            <a:srgbClr val="1B2735"/>
          </a:solidFill>
          <a:ln/>
        </p:spPr>
      </p:sp>
      <p:sp>
        <p:nvSpPr>
          <p:cNvPr id="18" name="Text 16"/>
          <p:cNvSpPr/>
          <p:nvPr/>
        </p:nvSpPr>
        <p:spPr>
          <a:xfrm>
            <a:off x="8147304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41664" y="22677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47304" y="2880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--vault-password-file points at that temp file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1B2735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96512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stage('Deploy to Production') {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steps {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withCredentials([string(credentialsId: 'ansible_vault_password', variable: 'VAULT_PW')]) {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sh '''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echo $VAULT_PW &gt; .vault_pass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ansible-playbook -i inventory/prod.ini site.yml --vault-password-file .vault_pass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rm -f .vault_pass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'''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Multi-Environment Promotion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24334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23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on every merge to main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inventory/dev.ini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50792" y="3291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2C3E5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423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after tests pass; smoke tested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43891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inventory/staging.ini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99832" y="3291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EE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423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29718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 gate, then Vault-protected deploy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43891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inventory/production.ini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243349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2064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stage('Approval') { steps { input message: 'Deploy to production?', submitter: 'release-managers' } 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Zero-Downtime Rolling Deployment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Ansible's serial keyword lets a Jenkins-triggered deploy update hosts in batches, pulling each batch out of the load balancer first.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B273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6032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Rolling deploy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 webservers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serial: "25%"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max_fail_percentage: 0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Remove from load balancer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include_tasks: lb_drain.yml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Deploy new release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include_role: { name: app_deploy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Health check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uri: { url: "http://{{ inventory_hostname }}/health"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retries: 5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delay: 5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Re-add to load balancer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include_tasks: lb_add.yml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309360" y="2423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per batch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606040"/>
            <a:ext cx="5303520" cy="685800"/>
          </a:xfrm>
          <a:prstGeom prst="roundRect">
            <a:avLst>
              <a:gd name="adj" fmla="val 9333"/>
            </a:avLst>
          </a:prstGeom>
          <a:solidFill>
            <a:srgbClr val="FDE8E8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6060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 (25%)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3429000"/>
            <a:ext cx="5303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34290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 (25%)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4251960"/>
            <a:ext cx="5303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42519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3 (25%)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5074920"/>
            <a:ext cx="5303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50749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4 (25%)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59436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batch fails its health check, the pipeline stops before touching the rest of the fleet.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&amp; Rollback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57400"/>
            <a:ext cx="5349240" cy="502920"/>
          </a:xfrm>
          <a:prstGeom prst="roundRect">
            <a:avLst>
              <a:gd name="adj" fmla="val 16364"/>
            </a:avLst>
          </a:prstGeom>
          <a:solidFill>
            <a:srgbClr val="EE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13432"/>
            <a:ext cx="5349240" cy="246888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side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4892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failure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 'ansible-playbook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rollback.yml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-i inventory/prod.ini'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always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archiveArtifacts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'ansible.log'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205740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2057400"/>
            <a:ext cx="5349240" cy="502920"/>
          </a:xfrm>
          <a:prstGeom prst="roundRect">
            <a:avLst>
              <a:gd name="adj" fmla="val 16364"/>
            </a:avLst>
          </a:prstGeom>
          <a:solidFill>
            <a:srgbClr val="EE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313432"/>
            <a:ext cx="5349240" cy="246888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0574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side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4892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Deploy release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block: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include_role: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app_deploy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rescue: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include_role: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app_rollback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fail: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msg: "Deploy failed,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rolled back"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&amp; Reporting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pipeline's outcome should reach the team without anyone watching the Jenkins console.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411480" cy="41148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Teams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2971800" cy="54864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520440"/>
            <a:ext cx="2752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{ success { slackSend(...) } 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pass/fail message in the team channel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2860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560320"/>
            <a:ext cx="411480" cy="41148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3520440"/>
            <a:ext cx="2971800" cy="54864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/>
        </p:spPr>
      </p:sp>
      <p:sp>
        <p:nvSpPr>
          <p:cNvPr id="17" name="Text 15"/>
          <p:cNvSpPr/>
          <p:nvPr/>
        </p:nvSpPr>
        <p:spPr>
          <a:xfrm>
            <a:off x="4681728" y="3520440"/>
            <a:ext cx="2752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{ failure { mail(...) } 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0" y="42062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failure notice to the on-call list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22860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2560320"/>
            <a:ext cx="411480" cy="41148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3108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/ Reporting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21040" y="3520440"/>
            <a:ext cx="2971800" cy="54864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/>
        </p:spPr>
      </p:sp>
      <p:sp>
        <p:nvSpPr>
          <p:cNvPr id="24" name="Text 22"/>
          <p:cNvSpPr/>
          <p:nvPr/>
        </p:nvSpPr>
        <p:spPr>
          <a:xfrm>
            <a:off x="8430768" y="3520440"/>
            <a:ext cx="2752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ara_default callback plugin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321040" y="42062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Ansible run for later inspection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 Production,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755648" cy="3383280"/>
          </a:xfrm>
          <a:prstGeom prst="roundRect">
            <a:avLst>
              <a:gd name="adj" fmla="val 4167"/>
            </a:avLst>
          </a:prstGeom>
          <a:solidFill>
            <a:srgbClr val="1B2735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30428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3042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" y="3520440"/>
            <a:ext cx="151790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to Git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76856" y="3611880"/>
            <a:ext cx="356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23160" y="2103120"/>
            <a:ext cx="1755648" cy="3383280"/>
          </a:xfrm>
          <a:prstGeom prst="roundRect">
            <a:avLst>
              <a:gd name="adj" fmla="val 4167"/>
            </a:avLst>
          </a:prstGeom>
          <a:solidFill>
            <a:srgbClr val="1B2735"/>
          </a:solidFill>
          <a:ln/>
        </p:spPr>
      </p:sp>
      <p:sp>
        <p:nvSpPr>
          <p:cNvPr id="11" name="Shape 9"/>
          <p:cNvSpPr/>
          <p:nvPr/>
        </p:nvSpPr>
        <p:spPr>
          <a:xfrm>
            <a:off x="3063240" y="230428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23042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14600" y="297180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42032" y="3520440"/>
            <a:ext cx="151790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starts the Jenkins pipeline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51376" y="3611880"/>
            <a:ext cx="356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2103120"/>
            <a:ext cx="1755648" cy="3383280"/>
          </a:xfrm>
          <a:prstGeom prst="roundRect">
            <a:avLst>
              <a:gd name="adj" fmla="val 4167"/>
            </a:avLst>
          </a:prstGeom>
          <a:solidFill>
            <a:srgbClr val="1B2735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230428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3042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0" y="297180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16552" y="3520440"/>
            <a:ext cx="151790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unit test, lint the playbooks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25896" y="3611880"/>
            <a:ext cx="356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2103120"/>
            <a:ext cx="1755648" cy="3383280"/>
          </a:xfrm>
          <a:prstGeom prst="roundRect">
            <a:avLst>
              <a:gd name="adj" fmla="val 4167"/>
            </a:avLst>
          </a:prstGeom>
          <a:solidFill>
            <a:srgbClr val="1B2735"/>
          </a:solidFill>
          <a:ln/>
        </p:spPr>
      </p:sp>
      <p:sp>
        <p:nvSpPr>
          <p:cNvPr id="23" name="Shape 21"/>
          <p:cNvSpPr/>
          <p:nvPr/>
        </p:nvSpPr>
        <p:spPr>
          <a:xfrm>
            <a:off x="6812280" y="230428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23042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63640" y="297180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91072" y="3520440"/>
            <a:ext cx="151790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applies OS &amp; baseline config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00416" y="3611880"/>
            <a:ext cx="356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46720" y="2103120"/>
            <a:ext cx="1755648" cy="3383280"/>
          </a:xfrm>
          <a:prstGeom prst="roundRect">
            <a:avLst>
              <a:gd name="adj" fmla="val 4167"/>
            </a:avLst>
          </a:prstGeom>
          <a:solidFill>
            <a:srgbClr val="EE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0" y="230428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0" y="23042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38160" y="297180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65592" y="3520440"/>
            <a:ext cx="151790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pushes the new release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774936" y="3611880"/>
            <a:ext cx="356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921240" y="2103120"/>
            <a:ext cx="1755648" cy="3383280"/>
          </a:xfrm>
          <a:prstGeom prst="roundRect">
            <a:avLst>
              <a:gd name="adj" fmla="val 4167"/>
            </a:avLst>
          </a:prstGeom>
          <a:solidFill>
            <a:srgbClr val="1B273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61320" y="230428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0561320" y="23042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012680" y="297180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40112" y="3520440"/>
            <a:ext cx="151790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confirm success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scales from a single VM to a fleet across on-prem, AWS, Azure, and Kubernetes nodes.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86000"/>
            <a:ext cx="365760" cy="36576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70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Jenkinsfile in the repo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136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Pipeline-as-code reviewed and versioned alongside the app it deploys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20574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286000"/>
            <a:ext cx="365760" cy="36576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770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secrets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3136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Binding plugin + Ansible Vault, always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20574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286000"/>
            <a:ext cx="365760" cy="36576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2770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playbooks before prod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3136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 and a staging environment catch issues early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50208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178808"/>
            <a:ext cx="365760" cy="36576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production explicitly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approval step before the highest-impact stage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950208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178808"/>
            <a:ext cx="365760" cy="36576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fast, fail loud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5029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max_fail_percentage and post{failure{}} stop bad deploys cold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3950208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2C3E56"/>
          </a:solidFill>
          <a:ln w="12700">
            <a:solidFill>
              <a:srgbClr val="3D4E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178808"/>
            <a:ext cx="365760" cy="36576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7532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everything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75320" y="5029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ansible.log as a build artifact for every run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5029200" cy="5029200"/>
          </a:xfrm>
          <a:prstGeom prst="ellipse">
            <a:avLst/>
          </a:prstGeom>
          <a:solidFill>
            <a:srgbClr val="243349"/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5303520"/>
            <a:ext cx="2377440" cy="237744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 with Jenkins.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8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with Ansible.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Jenkinsfile that lints, tests, and gates each stage — handing every deployment to Ansible's idempotent, agentless playbooks — turns a commit into a verified production release.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1280160" cy="0"/>
          </a:xfrm>
          <a:prstGeom prst="line">
            <a:avLst/>
          </a:prstGeom>
          <a:noFill/>
          <a:ln w="38100">
            <a:solidFill>
              <a:srgbClr val="EE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2026-07-24T04:36:24Z</dcterms:created>
  <dcterms:modified xsi:type="dcterms:W3CDTF">2026-07-24T04:36:24Z</dcterms:modified>
</cp:coreProperties>
</file>